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BC31D2C-8FA0-DBAA-33E7-DEF033776D4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3F7FE9B-A65A-97D1-6DCF-DEC421FEE68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E8DA7F43-500B-B5B5-DAD1-5BE8F7BE0C3A}"/>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5" name="フッター プレースホルダー 4">
            <a:extLst>
              <a:ext uri="{FF2B5EF4-FFF2-40B4-BE49-F238E27FC236}">
                <a16:creationId xmlns:a16="http://schemas.microsoft.com/office/drawing/2014/main" id="{098A2480-E112-0D00-B090-3A82D8A1EB6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2700E7D-2299-73EE-9FC7-F815ADD1569C}"/>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37405921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D7E8ED-659D-8157-5A20-2FE5866EC51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E6E2407-6EAC-ADA2-1F6E-5FF025AAEB2A}"/>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0577F3DE-0091-E546-E8AB-C89D8C0AC5B5}"/>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5" name="フッター プレースホルダー 4">
            <a:extLst>
              <a:ext uri="{FF2B5EF4-FFF2-40B4-BE49-F238E27FC236}">
                <a16:creationId xmlns:a16="http://schemas.microsoft.com/office/drawing/2014/main" id="{20BE90E7-03B2-8565-0695-59FE4E22114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DD4C382-7A12-A04E-18EF-28F4541AE0F4}"/>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897792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27C99D3-080F-2D57-3CBA-255C1FAFF90C}"/>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1CCE830-F874-FD9F-CD59-3621AE6AFEF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DAD003E-07EE-EFF1-A02C-7A0F6ED14016}"/>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5" name="フッター プレースホルダー 4">
            <a:extLst>
              <a:ext uri="{FF2B5EF4-FFF2-40B4-BE49-F238E27FC236}">
                <a16:creationId xmlns:a16="http://schemas.microsoft.com/office/drawing/2014/main" id="{C2E91828-89A8-E37E-8AE9-196DD0BC976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44C567F-4999-FF1D-C365-96CF4F22CF2B}"/>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3480170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E87CDC4-CB8C-128D-2188-E5DD03F61BC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B5CA72-CF39-1C6B-B609-040AA57E4996}"/>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CBFA308-80C3-7025-5C51-ECC2836313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C901580F-65C8-0AF1-FF15-0E306ECCC045}"/>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6" name="フッター プレースホルダー 5">
            <a:extLst>
              <a:ext uri="{FF2B5EF4-FFF2-40B4-BE49-F238E27FC236}">
                <a16:creationId xmlns:a16="http://schemas.microsoft.com/office/drawing/2014/main" id="{6286BC77-3D18-19DE-3A25-B0D9449C7E4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BB7168C-8B1F-5277-AE83-DC00AC554F48}"/>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3745572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48AE7EE-6F15-63D0-F365-3B619689CAF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C447CF0-5CC2-2124-7BFC-DF55581FFB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6A6DA6A4-4EAC-3769-0EDB-F7896C89528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1E32B11-EC95-0BB6-E7E4-6498ED60BC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212D4FD-639B-40C2-D022-A7C86C2CA73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22229D9-C207-BB2A-AA55-E6C64E87EBFD}"/>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8" name="フッター プレースホルダー 7">
            <a:extLst>
              <a:ext uri="{FF2B5EF4-FFF2-40B4-BE49-F238E27FC236}">
                <a16:creationId xmlns:a16="http://schemas.microsoft.com/office/drawing/2014/main" id="{45758732-AA5E-ECE9-056B-2B7F7CE83C7A}"/>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B4AE422-FCF7-23C4-5754-ED8526962412}"/>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1018639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1F7DF9-7261-4DE2-DC3F-9A4BAF0B827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3BA130EB-8A83-D539-7545-B2E8FC54F87E}"/>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4" name="フッター プレースホルダー 3">
            <a:extLst>
              <a:ext uri="{FF2B5EF4-FFF2-40B4-BE49-F238E27FC236}">
                <a16:creationId xmlns:a16="http://schemas.microsoft.com/office/drawing/2014/main" id="{491004F2-E616-6F38-792C-C00AE360F79F}"/>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9F8916F-667C-F902-D9C9-37A15E35C6DD}"/>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3533607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3605E40-C624-670A-A711-685322CBA5A4}"/>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3" name="フッター プレースホルダー 2">
            <a:extLst>
              <a:ext uri="{FF2B5EF4-FFF2-40B4-BE49-F238E27FC236}">
                <a16:creationId xmlns:a16="http://schemas.microsoft.com/office/drawing/2014/main" id="{08808CA9-A65F-1F54-9DF7-C2C3A73EA0C7}"/>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E489323-0839-5D8F-A631-AF1E9E33B249}"/>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11656077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F98A97-D0AC-5899-63FA-F6FC9327A92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75D40D6-EEFE-FFEA-63D0-B9AC108D90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14BB9DA-2D6E-C4D9-D1DE-3A2FA10276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9DEF7227-ABF6-18FF-AA06-8CE0137BBB57}"/>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6" name="フッター プレースホルダー 5">
            <a:extLst>
              <a:ext uri="{FF2B5EF4-FFF2-40B4-BE49-F238E27FC236}">
                <a16:creationId xmlns:a16="http://schemas.microsoft.com/office/drawing/2014/main" id="{F5A2FE02-9FB9-C205-FF0B-13E7CB30086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ADB4033-0E03-A66E-F822-78841AC61E95}"/>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994373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7C344F-3FC6-8CB1-31A5-2CDFA1DA831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6908CC1-6A98-2614-CAD3-753D0652CD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27D43478-D386-B233-8B10-DD9639C31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303FFD8-3DE8-FE62-EF20-C8F6D2F560A2}"/>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6" name="フッター プレースホルダー 5">
            <a:extLst>
              <a:ext uri="{FF2B5EF4-FFF2-40B4-BE49-F238E27FC236}">
                <a16:creationId xmlns:a16="http://schemas.microsoft.com/office/drawing/2014/main" id="{BAD460A1-C20D-5AC6-C909-44437A2BFD7F}"/>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C688EF8-06E4-0F6E-CE8A-B2C6E2AB7DE1}"/>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1438543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5A7689-0DAD-22AB-06E5-0F3ECA0E7B06}"/>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DCD2CEE-9421-62E7-A384-02E7204DFA2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6A1F948-AF51-9AD4-ADD9-9CE3AF6D8161}"/>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5" name="フッター プレースホルダー 4">
            <a:extLst>
              <a:ext uri="{FF2B5EF4-FFF2-40B4-BE49-F238E27FC236}">
                <a16:creationId xmlns:a16="http://schemas.microsoft.com/office/drawing/2014/main" id="{1EB2FE7B-1733-80CC-2CB5-9C7464FB66E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7E1A9CF-4B7E-968D-DB7E-B44FB585361F}"/>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2440289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64BF670F-9364-6617-85ED-91EDF0F80B18}"/>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09800A6-B9BA-DABF-F2CF-2E8F24C142F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F0442FD-073C-13CE-4FA1-805B56D6437A}"/>
              </a:ext>
            </a:extLst>
          </p:cNvPr>
          <p:cNvSpPr>
            <a:spLocks noGrp="1"/>
          </p:cNvSpPr>
          <p:nvPr>
            <p:ph type="dt" sz="half" idx="10"/>
          </p:nvPr>
        </p:nvSpPr>
        <p:spPr/>
        <p:txBody>
          <a:bodyPr/>
          <a:lstStyle/>
          <a:p>
            <a:fld id="{D27AF13B-FB74-492F-9D04-BE867C87B869}" type="datetimeFigureOut">
              <a:rPr kumimoji="1" lang="ja-JP" altLang="en-US" smtClean="0"/>
              <a:t>2023/2/17</a:t>
            </a:fld>
            <a:endParaRPr kumimoji="1" lang="ja-JP" altLang="en-US"/>
          </a:p>
        </p:txBody>
      </p:sp>
      <p:sp>
        <p:nvSpPr>
          <p:cNvPr id="5" name="フッター プレースホルダー 4">
            <a:extLst>
              <a:ext uri="{FF2B5EF4-FFF2-40B4-BE49-F238E27FC236}">
                <a16:creationId xmlns:a16="http://schemas.microsoft.com/office/drawing/2014/main" id="{F6C10631-7E3D-D9B0-A642-489FEF6883D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875B00-ABD6-91A8-BC5E-C83788F94DFE}"/>
              </a:ext>
            </a:extLst>
          </p:cNvPr>
          <p:cNvSpPr>
            <a:spLocks noGrp="1"/>
          </p:cNvSpPr>
          <p:nvPr>
            <p:ph type="sldNum" sz="quarter" idx="12"/>
          </p:nvPr>
        </p:nvSpPr>
        <p:spPr/>
        <p:txBody>
          <a:body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193533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8507FF4-A201-474B-5959-B1594E9896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0BEE7BF-7AFD-9754-A91F-6E6CA26BA9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EAE3144-586E-1C7A-B2A8-4CA5A3C0C7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27AF13B-FB74-492F-9D04-BE867C87B869}" type="datetimeFigureOut">
              <a:rPr kumimoji="1" lang="ja-JP" altLang="en-US" smtClean="0"/>
              <a:t>2023/2/17</a:t>
            </a:fld>
            <a:endParaRPr kumimoji="1" lang="ja-JP" altLang="en-US"/>
          </a:p>
        </p:txBody>
      </p:sp>
      <p:sp>
        <p:nvSpPr>
          <p:cNvPr id="5" name="フッター プレースホルダー 4">
            <a:extLst>
              <a:ext uri="{FF2B5EF4-FFF2-40B4-BE49-F238E27FC236}">
                <a16:creationId xmlns:a16="http://schemas.microsoft.com/office/drawing/2014/main" id="{BE4BE21B-C57B-556D-FECC-4821E557754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94C50A7-71F2-7FC6-76DB-0287EF1E43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164BED-FB42-4485-80C9-0F79B8C9881B}" type="slidenum">
              <a:rPr kumimoji="1" lang="ja-JP" altLang="en-US" smtClean="0"/>
              <a:t>‹#›</a:t>
            </a:fld>
            <a:endParaRPr kumimoji="1" lang="ja-JP" altLang="en-US"/>
          </a:p>
        </p:txBody>
      </p:sp>
    </p:spTree>
    <p:extLst>
      <p:ext uri="{BB962C8B-B14F-4D97-AF65-F5344CB8AC3E}">
        <p14:creationId xmlns:p14="http://schemas.microsoft.com/office/powerpoint/2010/main" val="2841142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9.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E0147785-F1CB-E6F8-6181-EC6D359C2DA2}"/>
              </a:ext>
            </a:extLst>
          </p:cNvPr>
          <p:cNvSpPr txBox="1"/>
          <p:nvPr/>
        </p:nvSpPr>
        <p:spPr>
          <a:xfrm>
            <a:off x="279386" y="1955622"/>
            <a:ext cx="5816614" cy="1015663"/>
          </a:xfrm>
          <a:prstGeom prst="rect">
            <a:avLst/>
          </a:prstGeom>
          <a:noFill/>
        </p:spPr>
        <p:txBody>
          <a:bodyPr wrap="square" rtlCol="0">
            <a:spAutoFit/>
          </a:bodyPr>
          <a:lstStyle/>
          <a:p>
            <a:r>
              <a:rPr kumimoji="1" lang="ja-JP" altLang="en-US" sz="1200" dirty="0"/>
              <a:t>飼料中のたん白質には、</a:t>
            </a:r>
            <a:br>
              <a:rPr kumimoji="1" lang="en-US" altLang="ja-JP" sz="1200" dirty="0"/>
            </a:br>
            <a:r>
              <a:rPr kumimoji="1" lang="ja-JP" altLang="en-US" sz="1200" b="1" dirty="0"/>
              <a:t>ルーメン内の微生物に利用される</a:t>
            </a:r>
            <a:r>
              <a:rPr lang="ja-JP" altLang="en-US" sz="1200" b="1" dirty="0"/>
              <a:t>「ルーメン分解性たん白」</a:t>
            </a:r>
            <a:r>
              <a:rPr kumimoji="1" lang="ja-JP" altLang="en-US" sz="1200" dirty="0"/>
              <a:t>、</a:t>
            </a:r>
            <a:br>
              <a:rPr kumimoji="1" lang="en-US" altLang="ja-JP" sz="1200" dirty="0"/>
            </a:br>
            <a:r>
              <a:rPr kumimoji="1" lang="ja-JP" altLang="en-US" sz="1200" b="1" dirty="0"/>
              <a:t>ルーメン内の微生物に利用されずに第四胃以降で消化・吸収される</a:t>
            </a:r>
            <a:r>
              <a:rPr lang="ja-JP" altLang="en-US" sz="1200" b="1" dirty="0"/>
              <a:t>「ルーメン</a:t>
            </a:r>
            <a:endParaRPr lang="en-US" altLang="ja-JP" sz="1200" b="1" dirty="0"/>
          </a:p>
          <a:p>
            <a:r>
              <a:rPr lang="ja-JP" altLang="en-US" sz="1200" b="1" dirty="0"/>
              <a:t>非分解性たん白＝</a:t>
            </a:r>
            <a:r>
              <a:rPr lang="ja-JP" altLang="en-US" sz="1200" b="1" dirty="0">
                <a:solidFill>
                  <a:srgbClr val="FF0000"/>
                </a:solidFill>
              </a:rPr>
              <a:t>バイパスたん白</a:t>
            </a:r>
            <a:r>
              <a:rPr lang="ja-JP" altLang="en-US" sz="1200" b="1" dirty="0"/>
              <a:t>」</a:t>
            </a:r>
            <a:br>
              <a:rPr lang="en-US" altLang="ja-JP" sz="1200" b="1" dirty="0"/>
            </a:br>
            <a:r>
              <a:rPr kumimoji="1" lang="ja-JP" altLang="en-US" sz="1200" dirty="0"/>
              <a:t>があります。</a:t>
            </a:r>
          </a:p>
        </p:txBody>
      </p:sp>
      <p:sp>
        <p:nvSpPr>
          <p:cNvPr id="6" name="テキスト ボックス 5">
            <a:extLst>
              <a:ext uri="{FF2B5EF4-FFF2-40B4-BE49-F238E27FC236}">
                <a16:creationId xmlns:a16="http://schemas.microsoft.com/office/drawing/2014/main" id="{48305E84-CEFA-22CC-B15B-D5E371A71B43}"/>
              </a:ext>
            </a:extLst>
          </p:cNvPr>
          <p:cNvSpPr txBox="1"/>
          <p:nvPr/>
        </p:nvSpPr>
        <p:spPr>
          <a:xfrm>
            <a:off x="250040" y="3283476"/>
            <a:ext cx="5816614" cy="1384995"/>
          </a:xfrm>
          <a:prstGeom prst="rect">
            <a:avLst/>
          </a:prstGeom>
          <a:noFill/>
        </p:spPr>
        <p:txBody>
          <a:bodyPr wrap="square" rtlCol="0">
            <a:spAutoFit/>
          </a:bodyPr>
          <a:lstStyle/>
          <a:p>
            <a:r>
              <a:rPr kumimoji="1" lang="ja-JP" altLang="en-US" sz="1200" dirty="0"/>
              <a:t>過剰なルーメン分解性たん白（＝大豆粕）は、ルーメンに負担をかけるばかり</a:t>
            </a:r>
            <a:endParaRPr kumimoji="1" lang="en-US" altLang="ja-JP" sz="1200" dirty="0"/>
          </a:p>
          <a:p>
            <a:r>
              <a:rPr kumimoji="1" lang="ja-JP" altLang="en-US" sz="1200" dirty="0"/>
              <a:t>でなく、アンモニアといった毒素を多く発生して、酷い場合は水様性の下痢を</a:t>
            </a:r>
            <a:endParaRPr kumimoji="1" lang="en-US" altLang="ja-JP" sz="1200" dirty="0"/>
          </a:p>
          <a:p>
            <a:r>
              <a:rPr kumimoji="1" lang="ja-JP" altLang="en-US" sz="1200" dirty="0"/>
              <a:t>伴い、成長期の子牛の発育を阻害します。</a:t>
            </a:r>
            <a:br>
              <a:rPr kumimoji="1" lang="en-US" altLang="ja-JP" sz="1200" dirty="0"/>
            </a:br>
            <a:r>
              <a:rPr kumimoji="1" lang="ja-JP" altLang="en-US" sz="1200" dirty="0"/>
              <a:t>バイパスたん白は、ルーメンに負担をかけません。必要な栄養成分を牛が直接</a:t>
            </a:r>
            <a:endParaRPr kumimoji="1" lang="en-US" altLang="ja-JP" sz="1200" dirty="0"/>
          </a:p>
          <a:p>
            <a:r>
              <a:rPr kumimoji="1" lang="ja-JP" altLang="en-US" sz="1200" dirty="0"/>
              <a:t>消化・吸収できます。特に骨格や筋肉の発達時期である育成期（４ケ月齢）～</a:t>
            </a:r>
            <a:endParaRPr kumimoji="1" lang="en-US" altLang="ja-JP" sz="1200" dirty="0"/>
          </a:p>
          <a:p>
            <a:r>
              <a:rPr kumimoji="1" lang="ja-JP" altLang="en-US" sz="1200" dirty="0"/>
              <a:t>肥育前期（１５ケ月齢）に</a:t>
            </a:r>
            <a:r>
              <a:rPr kumimoji="1" lang="ja-JP" altLang="en-US" sz="1200" b="1" dirty="0">
                <a:solidFill>
                  <a:srgbClr val="FF0000"/>
                </a:solidFill>
              </a:rPr>
              <a:t>バイパスたん白</a:t>
            </a:r>
            <a:r>
              <a:rPr kumimoji="1" lang="ja-JP" altLang="en-US" sz="1200" dirty="0"/>
              <a:t>は</a:t>
            </a:r>
            <a:r>
              <a:rPr lang="ja-JP" altLang="en-US" sz="1200" dirty="0"/>
              <a:t>効果的に</a:t>
            </a:r>
            <a:r>
              <a:rPr kumimoji="1" lang="ja-JP" altLang="en-US" sz="1200" dirty="0"/>
              <a:t>、</a:t>
            </a:r>
            <a:r>
              <a:rPr lang="ja-JP" altLang="en-US" sz="1200" dirty="0"/>
              <a:t>体躯</a:t>
            </a:r>
            <a:r>
              <a:rPr kumimoji="1" lang="ja-JP" altLang="en-US" sz="1200" dirty="0"/>
              <a:t>改善、赤肉増大</a:t>
            </a:r>
            <a:endParaRPr kumimoji="1" lang="en-US" altLang="ja-JP" sz="1200" dirty="0"/>
          </a:p>
          <a:p>
            <a:r>
              <a:rPr kumimoji="1" lang="ja-JP" altLang="en-US" sz="1200" dirty="0"/>
              <a:t>（将来的な枝肉増量）が期待できます。</a:t>
            </a:r>
            <a:endParaRPr kumimoji="1" lang="en-US" altLang="ja-JP" sz="1200" dirty="0"/>
          </a:p>
        </p:txBody>
      </p:sp>
      <p:sp>
        <p:nvSpPr>
          <p:cNvPr id="12" name="テキスト ボックス 11">
            <a:extLst>
              <a:ext uri="{FF2B5EF4-FFF2-40B4-BE49-F238E27FC236}">
                <a16:creationId xmlns:a16="http://schemas.microsoft.com/office/drawing/2014/main" id="{79E3A03C-13F9-78EC-92A1-B41EEC29F9CB}"/>
              </a:ext>
            </a:extLst>
          </p:cNvPr>
          <p:cNvSpPr txBox="1"/>
          <p:nvPr/>
        </p:nvSpPr>
        <p:spPr>
          <a:xfrm>
            <a:off x="6211172" y="4544040"/>
            <a:ext cx="3325137" cy="2031325"/>
          </a:xfrm>
          <a:prstGeom prst="rect">
            <a:avLst/>
          </a:prstGeom>
          <a:noFill/>
        </p:spPr>
        <p:txBody>
          <a:bodyPr wrap="square" rtlCol="0">
            <a:spAutoFit/>
          </a:bodyPr>
          <a:lstStyle/>
          <a:p>
            <a:r>
              <a:rPr kumimoji="1" lang="ja-JP" altLang="en-US" sz="1400" b="1" dirty="0">
                <a:solidFill>
                  <a:srgbClr val="FF0000"/>
                </a:solidFill>
              </a:rPr>
              <a:t>ソイパス</a:t>
            </a:r>
            <a:r>
              <a:rPr kumimoji="1" lang="ja-JP" altLang="en-US" sz="1400" dirty="0"/>
              <a:t>は</a:t>
            </a:r>
            <a:r>
              <a:rPr kumimoji="1" lang="ja-JP" altLang="en-US" sz="1400" b="1" dirty="0"/>
              <a:t>ルーメンバイパス大豆粕です</a:t>
            </a:r>
            <a:r>
              <a:rPr kumimoji="1" lang="ja-JP" altLang="en-US" sz="1400" dirty="0"/>
              <a:t>。通常の大豆粕は</a:t>
            </a:r>
            <a:r>
              <a:rPr kumimoji="1" lang="ja-JP" altLang="en-US" sz="1400" b="1" dirty="0"/>
              <a:t>ルーメン内の微生物に利用される</a:t>
            </a:r>
            <a:r>
              <a:rPr kumimoji="1" lang="ja-JP" altLang="en-US" sz="1400" dirty="0"/>
              <a:t>「ルーメン分解性たん白」ですが、大豆粕を特殊加工した</a:t>
            </a:r>
            <a:endParaRPr kumimoji="1" lang="en-US" altLang="ja-JP" sz="1400" dirty="0"/>
          </a:p>
          <a:p>
            <a:r>
              <a:rPr kumimoji="1" lang="ja-JP" altLang="en-US" sz="1400" b="1" dirty="0">
                <a:solidFill>
                  <a:srgbClr val="FF0000"/>
                </a:solidFill>
              </a:rPr>
              <a:t>ソイパス（</a:t>
            </a:r>
            <a:r>
              <a:rPr kumimoji="1" lang="en-US" altLang="ja-JP" sz="1400" b="1" dirty="0" err="1">
                <a:solidFill>
                  <a:srgbClr val="FF0000"/>
                </a:solidFill>
              </a:rPr>
              <a:t>SoyPass</a:t>
            </a:r>
            <a:r>
              <a:rPr kumimoji="1" lang="ja-JP" altLang="en-US" sz="1400" b="1" dirty="0">
                <a:solidFill>
                  <a:srgbClr val="FF0000"/>
                </a:solidFill>
              </a:rPr>
              <a:t>）</a:t>
            </a:r>
            <a:r>
              <a:rPr kumimoji="1" lang="ja-JP" altLang="en-US" sz="1400" dirty="0"/>
              <a:t>は海外で生まれた実績のある</a:t>
            </a:r>
            <a:r>
              <a:rPr kumimoji="1" lang="ja-JP" altLang="en-US" sz="1400" b="1" dirty="0">
                <a:solidFill>
                  <a:srgbClr val="FF0000"/>
                </a:solidFill>
              </a:rPr>
              <a:t>「バイパスたん白」</a:t>
            </a:r>
            <a:r>
              <a:rPr kumimoji="1" lang="ja-JP" altLang="en-US" sz="1400" dirty="0"/>
              <a:t>であり、日本国内においても搾乳牛で長年使用され高泌乳牛用原料として定着しています。</a:t>
            </a:r>
          </a:p>
        </p:txBody>
      </p:sp>
      <p:sp>
        <p:nvSpPr>
          <p:cNvPr id="13" name="テキスト ボックス 12">
            <a:extLst>
              <a:ext uri="{FF2B5EF4-FFF2-40B4-BE49-F238E27FC236}">
                <a16:creationId xmlns:a16="http://schemas.microsoft.com/office/drawing/2014/main" id="{DAF655A4-19C4-230F-6078-9CAA03594159}"/>
              </a:ext>
            </a:extLst>
          </p:cNvPr>
          <p:cNvSpPr txBox="1"/>
          <p:nvPr/>
        </p:nvSpPr>
        <p:spPr>
          <a:xfrm>
            <a:off x="125912" y="2956172"/>
            <a:ext cx="5142032" cy="338554"/>
          </a:xfrm>
          <a:prstGeom prst="rect">
            <a:avLst/>
          </a:prstGeom>
          <a:noFill/>
        </p:spPr>
        <p:txBody>
          <a:bodyPr wrap="square" rtlCol="0">
            <a:spAutoFit/>
          </a:bodyPr>
          <a:lstStyle/>
          <a:p>
            <a:r>
              <a:rPr kumimoji="1" lang="ja-JP" altLang="en-US" sz="1600" b="1" dirty="0"/>
              <a:t>２．なぜ、反芻動物に</a:t>
            </a:r>
            <a:r>
              <a:rPr kumimoji="1" lang="ja-JP" altLang="en-US" sz="1600" b="1" dirty="0">
                <a:solidFill>
                  <a:srgbClr val="FF0000"/>
                </a:solidFill>
              </a:rPr>
              <a:t>バイパスたん白</a:t>
            </a:r>
            <a:r>
              <a:rPr kumimoji="1" lang="ja-JP" altLang="en-US" sz="1600" b="1" dirty="0"/>
              <a:t>が必要なのか？</a:t>
            </a:r>
            <a:endParaRPr kumimoji="1" lang="en-US" altLang="ja-JP" sz="1600" b="1" dirty="0"/>
          </a:p>
        </p:txBody>
      </p:sp>
      <p:grpSp>
        <p:nvGrpSpPr>
          <p:cNvPr id="1032" name="グループ化 1031">
            <a:extLst>
              <a:ext uri="{FF2B5EF4-FFF2-40B4-BE49-F238E27FC236}">
                <a16:creationId xmlns:a16="http://schemas.microsoft.com/office/drawing/2014/main" id="{DD9EEE67-B324-7BEC-E41B-B8192BC59864}"/>
              </a:ext>
            </a:extLst>
          </p:cNvPr>
          <p:cNvGrpSpPr/>
          <p:nvPr/>
        </p:nvGrpSpPr>
        <p:grpSpPr>
          <a:xfrm>
            <a:off x="341325" y="4640581"/>
            <a:ext cx="5462615" cy="2131455"/>
            <a:chOff x="273460" y="2589782"/>
            <a:chExt cx="5113943" cy="2039958"/>
          </a:xfrm>
        </p:grpSpPr>
        <p:sp>
          <p:nvSpPr>
            <p:cNvPr id="19" name="テキスト ボックス 18">
              <a:extLst>
                <a:ext uri="{FF2B5EF4-FFF2-40B4-BE49-F238E27FC236}">
                  <a16:creationId xmlns:a16="http://schemas.microsoft.com/office/drawing/2014/main" id="{38A0EEAA-2620-3AFE-3DC7-8AA8B17459C0}"/>
                </a:ext>
              </a:extLst>
            </p:cNvPr>
            <p:cNvSpPr txBox="1"/>
            <p:nvPr/>
          </p:nvSpPr>
          <p:spPr>
            <a:xfrm>
              <a:off x="2851219" y="4379360"/>
              <a:ext cx="2536184" cy="250380"/>
            </a:xfrm>
            <a:prstGeom prst="rect">
              <a:avLst/>
            </a:prstGeom>
            <a:noFill/>
          </p:spPr>
          <p:txBody>
            <a:bodyPr wrap="square" rtlCol="0">
              <a:spAutoFit/>
            </a:bodyPr>
            <a:lstStyle/>
            <a:p>
              <a:r>
                <a:rPr kumimoji="1" lang="ja-JP" altLang="en-US" sz="1100" dirty="0"/>
                <a:t>ルーメン内のたん白質が適切なイメージ</a:t>
              </a:r>
            </a:p>
          </p:txBody>
        </p:sp>
        <p:grpSp>
          <p:nvGrpSpPr>
            <p:cNvPr id="63" name="グループ化 62">
              <a:extLst>
                <a:ext uri="{FF2B5EF4-FFF2-40B4-BE49-F238E27FC236}">
                  <a16:creationId xmlns:a16="http://schemas.microsoft.com/office/drawing/2014/main" id="{090322D7-AEE5-0B10-6B4B-46F8ECC528F8}"/>
                </a:ext>
              </a:extLst>
            </p:cNvPr>
            <p:cNvGrpSpPr/>
            <p:nvPr/>
          </p:nvGrpSpPr>
          <p:grpSpPr>
            <a:xfrm>
              <a:off x="273460" y="2589782"/>
              <a:ext cx="4945807" cy="1787739"/>
              <a:chOff x="5719509" y="337297"/>
              <a:chExt cx="5267551" cy="1794137"/>
            </a:xfrm>
          </p:grpSpPr>
          <p:grpSp>
            <p:nvGrpSpPr>
              <p:cNvPr id="61" name="グループ化 60">
                <a:extLst>
                  <a:ext uri="{FF2B5EF4-FFF2-40B4-BE49-F238E27FC236}">
                    <a16:creationId xmlns:a16="http://schemas.microsoft.com/office/drawing/2014/main" id="{ADA5AB05-EBCA-B6AA-7421-98E087F83FD6}"/>
                  </a:ext>
                </a:extLst>
              </p:cNvPr>
              <p:cNvGrpSpPr/>
              <p:nvPr/>
            </p:nvGrpSpPr>
            <p:grpSpPr>
              <a:xfrm>
                <a:off x="5719509" y="372796"/>
                <a:ext cx="2536184" cy="1758638"/>
                <a:chOff x="5392193" y="695477"/>
                <a:chExt cx="2536184" cy="1758638"/>
              </a:xfrm>
            </p:grpSpPr>
            <p:grpSp>
              <p:nvGrpSpPr>
                <p:cNvPr id="43" name="グループ化 42">
                  <a:extLst>
                    <a:ext uri="{FF2B5EF4-FFF2-40B4-BE49-F238E27FC236}">
                      <a16:creationId xmlns:a16="http://schemas.microsoft.com/office/drawing/2014/main" id="{2D67765D-598B-3F63-FFD2-167BC43699DF}"/>
                    </a:ext>
                  </a:extLst>
                </p:cNvPr>
                <p:cNvGrpSpPr/>
                <p:nvPr/>
              </p:nvGrpSpPr>
              <p:grpSpPr>
                <a:xfrm>
                  <a:off x="5392193" y="695477"/>
                  <a:ext cx="2536184" cy="1758638"/>
                  <a:chOff x="5392193" y="695477"/>
                  <a:chExt cx="2536184" cy="1758638"/>
                </a:xfrm>
              </p:grpSpPr>
              <p:pic>
                <p:nvPicPr>
                  <p:cNvPr id="1026" name="Picture 2" descr="Show Cattle Silhouette at GetDrawings | Free download">
                    <a:extLst>
                      <a:ext uri="{FF2B5EF4-FFF2-40B4-BE49-F238E27FC236}">
                        <a16:creationId xmlns:a16="http://schemas.microsoft.com/office/drawing/2014/main" id="{A1200065-6008-FDF6-DF2C-E37470F4AF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2193" y="695477"/>
                    <a:ext cx="2536184" cy="1758638"/>
                  </a:xfrm>
                  <a:prstGeom prst="rect">
                    <a:avLst/>
                  </a:prstGeom>
                  <a:noFill/>
                  <a:extLst>
                    <a:ext uri="{909E8E84-426E-40DD-AFC4-6F175D3DCCD1}">
                      <a14:hiddenFill xmlns:a14="http://schemas.microsoft.com/office/drawing/2010/main">
                        <a:solidFill>
                          <a:srgbClr val="FFFFFF"/>
                        </a:solidFill>
                      </a14:hiddenFill>
                    </a:ext>
                  </a:extLst>
                </p:spPr>
              </p:pic>
              <p:sp>
                <p:nvSpPr>
                  <p:cNvPr id="15" name="楕円 14">
                    <a:extLst>
                      <a:ext uri="{FF2B5EF4-FFF2-40B4-BE49-F238E27FC236}">
                        <a16:creationId xmlns:a16="http://schemas.microsoft.com/office/drawing/2014/main" id="{272E8911-61D7-7684-2591-41C4E327200B}"/>
                      </a:ext>
                    </a:extLst>
                  </p:cNvPr>
                  <p:cNvSpPr/>
                  <p:nvPr/>
                </p:nvSpPr>
                <p:spPr>
                  <a:xfrm>
                    <a:off x="5976478" y="795462"/>
                    <a:ext cx="1055584" cy="954806"/>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p>
                </p:txBody>
              </p:sp>
            </p:grpSp>
            <p:grpSp>
              <p:nvGrpSpPr>
                <p:cNvPr id="37" name="グループ化 36">
                  <a:extLst>
                    <a:ext uri="{FF2B5EF4-FFF2-40B4-BE49-F238E27FC236}">
                      <a16:creationId xmlns:a16="http://schemas.microsoft.com/office/drawing/2014/main" id="{E23ACBAA-D4AA-7757-30A5-C01B758D3303}"/>
                    </a:ext>
                  </a:extLst>
                </p:cNvPr>
                <p:cNvGrpSpPr/>
                <p:nvPr/>
              </p:nvGrpSpPr>
              <p:grpSpPr>
                <a:xfrm>
                  <a:off x="6094625" y="1126062"/>
                  <a:ext cx="762000" cy="448734"/>
                  <a:chOff x="6101225" y="2979939"/>
                  <a:chExt cx="762000" cy="448734"/>
                </a:xfrm>
              </p:grpSpPr>
              <p:sp>
                <p:nvSpPr>
                  <p:cNvPr id="21" name="楕円 20">
                    <a:extLst>
                      <a:ext uri="{FF2B5EF4-FFF2-40B4-BE49-F238E27FC236}">
                        <a16:creationId xmlns:a16="http://schemas.microsoft.com/office/drawing/2014/main" id="{3920BADC-76AF-FD9A-FC36-58296AFC584C}"/>
                      </a:ext>
                    </a:extLst>
                  </p:cNvPr>
                  <p:cNvSpPr/>
                  <p:nvPr/>
                </p:nvSpPr>
                <p:spPr>
                  <a:xfrm>
                    <a:off x="6339350" y="3032327"/>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C536AF8D-E9AC-705A-009B-02EF25F034C7}"/>
                      </a:ext>
                    </a:extLst>
                  </p:cNvPr>
                  <p:cNvSpPr/>
                  <p:nvPr/>
                </p:nvSpPr>
                <p:spPr>
                  <a:xfrm>
                    <a:off x="6120275" y="3056139"/>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楕円 22">
                    <a:extLst>
                      <a:ext uri="{FF2B5EF4-FFF2-40B4-BE49-F238E27FC236}">
                        <a16:creationId xmlns:a16="http://schemas.microsoft.com/office/drawing/2014/main" id="{4B1D3236-2180-D576-FF35-048AB8B5F145}"/>
                      </a:ext>
                    </a:extLst>
                  </p:cNvPr>
                  <p:cNvSpPr/>
                  <p:nvPr/>
                </p:nvSpPr>
                <p:spPr>
                  <a:xfrm>
                    <a:off x="6272675" y="3208539"/>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楕円 23">
                    <a:extLst>
                      <a:ext uri="{FF2B5EF4-FFF2-40B4-BE49-F238E27FC236}">
                        <a16:creationId xmlns:a16="http://schemas.microsoft.com/office/drawing/2014/main" id="{0742F073-9A9F-46A7-46E5-36592677FCB8}"/>
                      </a:ext>
                    </a:extLst>
                  </p:cNvPr>
                  <p:cNvSpPr/>
                  <p:nvPr/>
                </p:nvSpPr>
                <p:spPr>
                  <a:xfrm>
                    <a:off x="6444125" y="3160914"/>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EB2BE408-2BF1-20CB-754B-D159ACB011CF}"/>
                      </a:ext>
                    </a:extLst>
                  </p:cNvPr>
                  <p:cNvSpPr/>
                  <p:nvPr/>
                </p:nvSpPr>
                <p:spPr>
                  <a:xfrm>
                    <a:off x="6101225" y="3213301"/>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楕円 25">
                    <a:extLst>
                      <a:ext uri="{FF2B5EF4-FFF2-40B4-BE49-F238E27FC236}">
                        <a16:creationId xmlns:a16="http://schemas.microsoft.com/office/drawing/2014/main" id="{0587A14F-FFF6-D405-F2E1-E32D8548BF30}"/>
                      </a:ext>
                    </a:extLst>
                  </p:cNvPr>
                  <p:cNvSpPr/>
                  <p:nvPr/>
                </p:nvSpPr>
                <p:spPr>
                  <a:xfrm>
                    <a:off x="6444125" y="3323898"/>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楕円 26">
                    <a:extLst>
                      <a:ext uri="{FF2B5EF4-FFF2-40B4-BE49-F238E27FC236}">
                        <a16:creationId xmlns:a16="http://schemas.microsoft.com/office/drawing/2014/main" id="{949DCC5D-47BB-7639-8DA7-D9DB36644314}"/>
                      </a:ext>
                    </a:extLst>
                  </p:cNvPr>
                  <p:cNvSpPr/>
                  <p:nvPr/>
                </p:nvSpPr>
                <p:spPr>
                  <a:xfrm>
                    <a:off x="6510800" y="2979939"/>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楕円 28">
                    <a:extLst>
                      <a:ext uri="{FF2B5EF4-FFF2-40B4-BE49-F238E27FC236}">
                        <a16:creationId xmlns:a16="http://schemas.microsoft.com/office/drawing/2014/main" id="{9C1A3A03-53C0-ACDB-08B4-7BA55CE9014E}"/>
                      </a:ext>
                    </a:extLst>
                  </p:cNvPr>
                  <p:cNvSpPr/>
                  <p:nvPr/>
                </p:nvSpPr>
                <p:spPr>
                  <a:xfrm>
                    <a:off x="6663200" y="3132339"/>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楕円 29">
                    <a:extLst>
                      <a:ext uri="{FF2B5EF4-FFF2-40B4-BE49-F238E27FC236}">
                        <a16:creationId xmlns:a16="http://schemas.microsoft.com/office/drawing/2014/main" id="{67F34888-082E-9D08-D5F9-DE4DDDEF1744}"/>
                      </a:ext>
                    </a:extLst>
                  </p:cNvPr>
                  <p:cNvSpPr/>
                  <p:nvPr/>
                </p:nvSpPr>
                <p:spPr>
                  <a:xfrm>
                    <a:off x="6729875" y="2999455"/>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A22BAD6D-7FC9-09E7-7B53-92C4851A426C}"/>
                      </a:ext>
                    </a:extLst>
                  </p:cNvPr>
                  <p:cNvSpPr/>
                  <p:nvPr/>
                </p:nvSpPr>
                <p:spPr>
                  <a:xfrm>
                    <a:off x="6668425" y="3312986"/>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54" name="図 53">
                  <a:extLst>
                    <a:ext uri="{FF2B5EF4-FFF2-40B4-BE49-F238E27FC236}">
                      <a16:creationId xmlns:a16="http://schemas.microsoft.com/office/drawing/2014/main" id="{FD96AC4A-BFFA-87BD-69E7-311AC67E42E0}"/>
                    </a:ext>
                  </a:extLst>
                </p:cNvPr>
                <p:cNvPicPr>
                  <a:picLocks noChangeAspect="1"/>
                </p:cNvPicPr>
                <p:nvPr/>
              </p:nvPicPr>
              <p:blipFill>
                <a:blip r:embed="rId3"/>
                <a:stretch>
                  <a:fillRect/>
                </a:stretch>
              </p:blipFill>
              <p:spPr>
                <a:xfrm>
                  <a:off x="5561921" y="1561373"/>
                  <a:ext cx="401454" cy="392537"/>
                </a:xfrm>
                <a:prstGeom prst="rect">
                  <a:avLst/>
                </a:prstGeom>
              </p:spPr>
            </p:pic>
          </p:grpSp>
          <p:grpSp>
            <p:nvGrpSpPr>
              <p:cNvPr id="62" name="グループ化 61">
                <a:extLst>
                  <a:ext uri="{FF2B5EF4-FFF2-40B4-BE49-F238E27FC236}">
                    <a16:creationId xmlns:a16="http://schemas.microsoft.com/office/drawing/2014/main" id="{DAD7822D-69A6-630C-6684-9E63517253DE}"/>
                  </a:ext>
                </a:extLst>
              </p:cNvPr>
              <p:cNvGrpSpPr/>
              <p:nvPr/>
            </p:nvGrpSpPr>
            <p:grpSpPr>
              <a:xfrm>
                <a:off x="8450876" y="337297"/>
                <a:ext cx="2536184" cy="1758638"/>
                <a:chOff x="8453900" y="714375"/>
                <a:chExt cx="2536184" cy="1758638"/>
              </a:xfrm>
            </p:grpSpPr>
            <p:grpSp>
              <p:nvGrpSpPr>
                <p:cNvPr id="44" name="グループ化 43">
                  <a:extLst>
                    <a:ext uri="{FF2B5EF4-FFF2-40B4-BE49-F238E27FC236}">
                      <a16:creationId xmlns:a16="http://schemas.microsoft.com/office/drawing/2014/main" id="{2A618366-17FF-C3ED-BDC9-6A17279BA844}"/>
                    </a:ext>
                  </a:extLst>
                </p:cNvPr>
                <p:cNvGrpSpPr/>
                <p:nvPr/>
              </p:nvGrpSpPr>
              <p:grpSpPr>
                <a:xfrm>
                  <a:off x="8453900" y="714375"/>
                  <a:ext cx="2536184" cy="1758638"/>
                  <a:chOff x="5392193" y="695477"/>
                  <a:chExt cx="2536184" cy="1758638"/>
                </a:xfrm>
              </p:grpSpPr>
              <p:pic>
                <p:nvPicPr>
                  <p:cNvPr id="45" name="Picture 2" descr="Show Cattle Silhouette at GetDrawings | Free download">
                    <a:extLst>
                      <a:ext uri="{FF2B5EF4-FFF2-40B4-BE49-F238E27FC236}">
                        <a16:creationId xmlns:a16="http://schemas.microsoft.com/office/drawing/2014/main" id="{C58CF1B5-8F49-F192-5FAA-0847DD8B54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2193" y="695477"/>
                    <a:ext cx="2536184" cy="1758638"/>
                  </a:xfrm>
                  <a:prstGeom prst="rect">
                    <a:avLst/>
                  </a:prstGeom>
                  <a:noFill/>
                  <a:extLst>
                    <a:ext uri="{909E8E84-426E-40DD-AFC4-6F175D3DCCD1}">
                      <a14:hiddenFill xmlns:a14="http://schemas.microsoft.com/office/drawing/2010/main">
                        <a:solidFill>
                          <a:srgbClr val="FFFFFF"/>
                        </a:solidFill>
                      </a14:hiddenFill>
                    </a:ext>
                  </a:extLst>
                </p:spPr>
              </p:pic>
              <p:sp>
                <p:nvSpPr>
                  <p:cNvPr id="46" name="楕円 45">
                    <a:extLst>
                      <a:ext uri="{FF2B5EF4-FFF2-40B4-BE49-F238E27FC236}">
                        <a16:creationId xmlns:a16="http://schemas.microsoft.com/office/drawing/2014/main" id="{B37793EC-638F-3D7A-0723-A740580BEAB1}"/>
                      </a:ext>
                    </a:extLst>
                  </p:cNvPr>
                  <p:cNvSpPr/>
                  <p:nvPr/>
                </p:nvSpPr>
                <p:spPr>
                  <a:xfrm>
                    <a:off x="5976478" y="795462"/>
                    <a:ext cx="1055584" cy="954806"/>
                  </a:xfrm>
                  <a:prstGeom prst="ellipse">
                    <a:avLst/>
                  </a:pr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p>
                </p:txBody>
              </p:sp>
            </p:grpSp>
            <p:grpSp>
              <p:nvGrpSpPr>
                <p:cNvPr id="42" name="グループ化 41">
                  <a:extLst>
                    <a:ext uri="{FF2B5EF4-FFF2-40B4-BE49-F238E27FC236}">
                      <a16:creationId xmlns:a16="http://schemas.microsoft.com/office/drawing/2014/main" id="{EC32DC58-27A0-74CD-2B85-D2EEBDA97B6C}"/>
                    </a:ext>
                  </a:extLst>
                </p:cNvPr>
                <p:cNvGrpSpPr/>
                <p:nvPr/>
              </p:nvGrpSpPr>
              <p:grpSpPr>
                <a:xfrm>
                  <a:off x="9241596" y="1399834"/>
                  <a:ext cx="541646" cy="313939"/>
                  <a:chOff x="8387225" y="3162359"/>
                  <a:chExt cx="541646" cy="313939"/>
                </a:xfrm>
              </p:grpSpPr>
              <p:sp>
                <p:nvSpPr>
                  <p:cNvPr id="32" name="楕円 31">
                    <a:extLst>
                      <a:ext uri="{FF2B5EF4-FFF2-40B4-BE49-F238E27FC236}">
                        <a16:creationId xmlns:a16="http://schemas.microsoft.com/office/drawing/2014/main" id="{14F86CB5-A15E-8E92-AF4D-52D08498F332}"/>
                      </a:ext>
                    </a:extLst>
                  </p:cNvPr>
                  <p:cNvSpPr/>
                  <p:nvPr/>
                </p:nvSpPr>
                <p:spPr>
                  <a:xfrm>
                    <a:off x="8387225" y="3219123"/>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楕円 32">
                    <a:extLst>
                      <a:ext uri="{FF2B5EF4-FFF2-40B4-BE49-F238E27FC236}">
                        <a16:creationId xmlns:a16="http://schemas.microsoft.com/office/drawing/2014/main" id="{3BA7A728-41C3-9762-4E93-2312F694D845}"/>
                      </a:ext>
                    </a:extLst>
                  </p:cNvPr>
                  <p:cNvSpPr/>
                  <p:nvPr/>
                </p:nvSpPr>
                <p:spPr>
                  <a:xfrm>
                    <a:off x="8539625" y="3371523"/>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9D08D6AD-869F-1016-800E-AC1A739B158F}"/>
                      </a:ext>
                    </a:extLst>
                  </p:cNvPr>
                  <p:cNvSpPr/>
                  <p:nvPr/>
                </p:nvSpPr>
                <p:spPr>
                  <a:xfrm>
                    <a:off x="8795521" y="3162359"/>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楕円 34">
                    <a:extLst>
                      <a:ext uri="{FF2B5EF4-FFF2-40B4-BE49-F238E27FC236}">
                        <a16:creationId xmlns:a16="http://schemas.microsoft.com/office/drawing/2014/main" id="{59570333-F0DE-C4B6-F9AA-0B3B55BDA11D}"/>
                      </a:ext>
                    </a:extLst>
                  </p:cNvPr>
                  <p:cNvSpPr/>
                  <p:nvPr/>
                </p:nvSpPr>
                <p:spPr>
                  <a:xfrm>
                    <a:off x="8728846" y="3344703"/>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楕円 35">
                    <a:extLst>
                      <a:ext uri="{FF2B5EF4-FFF2-40B4-BE49-F238E27FC236}">
                        <a16:creationId xmlns:a16="http://schemas.microsoft.com/office/drawing/2014/main" id="{5B05DC58-B5E5-7AF1-CC21-599C2EAA64A7}"/>
                      </a:ext>
                    </a:extLst>
                  </p:cNvPr>
                  <p:cNvSpPr/>
                  <p:nvPr/>
                </p:nvSpPr>
                <p:spPr>
                  <a:xfrm>
                    <a:off x="8611525" y="3208539"/>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グループ化 52">
                  <a:extLst>
                    <a:ext uri="{FF2B5EF4-FFF2-40B4-BE49-F238E27FC236}">
                      <a16:creationId xmlns:a16="http://schemas.microsoft.com/office/drawing/2014/main" id="{47D847DD-650A-5061-8117-12002A415DA2}"/>
                    </a:ext>
                  </a:extLst>
                </p:cNvPr>
                <p:cNvGrpSpPr/>
                <p:nvPr/>
              </p:nvGrpSpPr>
              <p:grpSpPr>
                <a:xfrm>
                  <a:off x="10206404" y="1115477"/>
                  <a:ext cx="484496" cy="430743"/>
                  <a:chOff x="9220508" y="3293725"/>
                  <a:chExt cx="484496" cy="430743"/>
                </a:xfrm>
              </p:grpSpPr>
              <p:sp>
                <p:nvSpPr>
                  <p:cNvPr id="48" name="楕円 47">
                    <a:extLst>
                      <a:ext uri="{FF2B5EF4-FFF2-40B4-BE49-F238E27FC236}">
                        <a16:creationId xmlns:a16="http://schemas.microsoft.com/office/drawing/2014/main" id="{C4DA175B-90EF-79E4-6D47-2FA1A2031331}"/>
                      </a:ext>
                    </a:extLst>
                  </p:cNvPr>
                  <p:cNvSpPr/>
                  <p:nvPr/>
                </p:nvSpPr>
                <p:spPr>
                  <a:xfrm>
                    <a:off x="9220508" y="3467293"/>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楕円 48">
                    <a:extLst>
                      <a:ext uri="{FF2B5EF4-FFF2-40B4-BE49-F238E27FC236}">
                        <a16:creationId xmlns:a16="http://schemas.microsoft.com/office/drawing/2014/main" id="{E58FB26D-9AD9-50A8-C73A-925E0249E943}"/>
                      </a:ext>
                    </a:extLst>
                  </p:cNvPr>
                  <p:cNvSpPr/>
                  <p:nvPr/>
                </p:nvSpPr>
                <p:spPr>
                  <a:xfrm>
                    <a:off x="9372908" y="3619693"/>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楕円 49">
                    <a:extLst>
                      <a:ext uri="{FF2B5EF4-FFF2-40B4-BE49-F238E27FC236}">
                        <a16:creationId xmlns:a16="http://schemas.microsoft.com/office/drawing/2014/main" id="{7609610F-31A0-BCC8-3C80-0745B557C1E4}"/>
                      </a:ext>
                    </a:extLst>
                  </p:cNvPr>
                  <p:cNvSpPr/>
                  <p:nvPr/>
                </p:nvSpPr>
                <p:spPr>
                  <a:xfrm>
                    <a:off x="9341318" y="3293725"/>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楕円 50">
                    <a:extLst>
                      <a:ext uri="{FF2B5EF4-FFF2-40B4-BE49-F238E27FC236}">
                        <a16:creationId xmlns:a16="http://schemas.microsoft.com/office/drawing/2014/main" id="{D899388B-2F34-0E25-28D1-9D18F465FB36}"/>
                      </a:ext>
                    </a:extLst>
                  </p:cNvPr>
                  <p:cNvSpPr/>
                  <p:nvPr/>
                </p:nvSpPr>
                <p:spPr>
                  <a:xfrm>
                    <a:off x="9571654" y="3588460"/>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楕円 51">
                    <a:extLst>
                      <a:ext uri="{FF2B5EF4-FFF2-40B4-BE49-F238E27FC236}">
                        <a16:creationId xmlns:a16="http://schemas.microsoft.com/office/drawing/2014/main" id="{5A9C9AE9-0708-0E6E-D73E-3D8AF9639996}"/>
                      </a:ext>
                    </a:extLst>
                  </p:cNvPr>
                  <p:cNvSpPr/>
                  <p:nvPr/>
                </p:nvSpPr>
                <p:spPr>
                  <a:xfrm>
                    <a:off x="9548820" y="3384944"/>
                    <a:ext cx="133350" cy="104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8" name="矢印: 右 17">
                  <a:extLst>
                    <a:ext uri="{FF2B5EF4-FFF2-40B4-BE49-F238E27FC236}">
                      <a16:creationId xmlns:a16="http://schemas.microsoft.com/office/drawing/2014/main" id="{7EC88BE7-03A3-E731-11EF-1612A5D22E01}"/>
                    </a:ext>
                  </a:extLst>
                </p:cNvPr>
                <p:cNvSpPr/>
                <p:nvPr/>
              </p:nvSpPr>
              <p:spPr>
                <a:xfrm>
                  <a:off x="8665796" y="1189468"/>
                  <a:ext cx="1524662" cy="202274"/>
                </a:xfrm>
                <a:prstGeom prst="rightArrow">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56" name="図 55">
                  <a:extLst>
                    <a:ext uri="{FF2B5EF4-FFF2-40B4-BE49-F238E27FC236}">
                      <a16:creationId xmlns:a16="http://schemas.microsoft.com/office/drawing/2014/main" id="{BD3F223C-4E90-242B-DB28-5275C9AF4DC8}"/>
                    </a:ext>
                  </a:extLst>
                </p:cNvPr>
                <p:cNvPicPr>
                  <a:picLocks noChangeAspect="1"/>
                </p:cNvPicPr>
                <p:nvPr/>
              </p:nvPicPr>
              <p:blipFill>
                <a:blip r:embed="rId4"/>
                <a:stretch>
                  <a:fillRect/>
                </a:stretch>
              </p:blipFill>
              <p:spPr>
                <a:xfrm>
                  <a:off x="8640285" y="1524520"/>
                  <a:ext cx="352425" cy="352425"/>
                </a:xfrm>
                <a:prstGeom prst="rect">
                  <a:avLst/>
                </a:prstGeom>
              </p:spPr>
            </p:pic>
          </p:grpSp>
        </p:grpSp>
        <p:sp>
          <p:nvSpPr>
            <p:cNvPr id="57" name="テキスト ボックス 56">
              <a:extLst>
                <a:ext uri="{FF2B5EF4-FFF2-40B4-BE49-F238E27FC236}">
                  <a16:creationId xmlns:a16="http://schemas.microsoft.com/office/drawing/2014/main" id="{3068BD3F-75C4-B57B-546B-869C99B6D835}"/>
                </a:ext>
              </a:extLst>
            </p:cNvPr>
            <p:cNvSpPr txBox="1"/>
            <p:nvPr/>
          </p:nvSpPr>
          <p:spPr>
            <a:xfrm>
              <a:off x="273460" y="4378134"/>
              <a:ext cx="2620054" cy="250380"/>
            </a:xfrm>
            <a:prstGeom prst="rect">
              <a:avLst/>
            </a:prstGeom>
            <a:noFill/>
          </p:spPr>
          <p:txBody>
            <a:bodyPr wrap="square" rtlCol="0">
              <a:spAutoFit/>
            </a:bodyPr>
            <a:lstStyle/>
            <a:p>
              <a:r>
                <a:rPr kumimoji="1" lang="ja-JP" altLang="en-US" sz="1100" dirty="0"/>
                <a:t>ルーメン内のたん白質が過剰なイメージ</a:t>
              </a:r>
            </a:p>
          </p:txBody>
        </p:sp>
      </p:grpSp>
      <p:sp>
        <p:nvSpPr>
          <p:cNvPr id="59" name="テキスト ボックス 58">
            <a:extLst>
              <a:ext uri="{FF2B5EF4-FFF2-40B4-BE49-F238E27FC236}">
                <a16:creationId xmlns:a16="http://schemas.microsoft.com/office/drawing/2014/main" id="{F922369E-A975-A820-7F89-0D5DC370936B}"/>
              </a:ext>
            </a:extLst>
          </p:cNvPr>
          <p:cNvSpPr txBox="1"/>
          <p:nvPr/>
        </p:nvSpPr>
        <p:spPr>
          <a:xfrm>
            <a:off x="6097185" y="218593"/>
            <a:ext cx="5735746" cy="584775"/>
          </a:xfrm>
          <a:prstGeom prst="rect">
            <a:avLst/>
          </a:prstGeom>
          <a:noFill/>
        </p:spPr>
        <p:txBody>
          <a:bodyPr wrap="square" rtlCol="0">
            <a:spAutoFit/>
          </a:bodyPr>
          <a:lstStyle/>
          <a:p>
            <a:r>
              <a:rPr kumimoji="1" lang="ja-JP" altLang="en-US" sz="1600" b="1" dirty="0"/>
              <a:t>３．乳、赤肉の生産性を高めるには単にたん白質ではなく、</a:t>
            </a:r>
            <a:br>
              <a:rPr kumimoji="1" lang="en-US" altLang="ja-JP" sz="1600" b="1" dirty="0"/>
            </a:br>
            <a:r>
              <a:rPr kumimoji="1" lang="ja-JP" altLang="en-US" sz="1600" b="1" dirty="0"/>
              <a:t>　　　　アミノ酸のバランス（リジン：メチオニン）が重要</a:t>
            </a:r>
            <a:endParaRPr kumimoji="1" lang="en-US" altLang="ja-JP" sz="1600" b="1" dirty="0"/>
          </a:p>
        </p:txBody>
      </p:sp>
      <p:sp>
        <p:nvSpPr>
          <p:cNvPr id="60" name="テキスト ボックス 59">
            <a:extLst>
              <a:ext uri="{FF2B5EF4-FFF2-40B4-BE49-F238E27FC236}">
                <a16:creationId xmlns:a16="http://schemas.microsoft.com/office/drawing/2014/main" id="{A166D422-F9B1-71A6-6018-9DB717D1A5B9}"/>
              </a:ext>
            </a:extLst>
          </p:cNvPr>
          <p:cNvSpPr txBox="1"/>
          <p:nvPr/>
        </p:nvSpPr>
        <p:spPr>
          <a:xfrm>
            <a:off x="6302841" y="740550"/>
            <a:ext cx="5735746" cy="1384995"/>
          </a:xfrm>
          <a:prstGeom prst="rect">
            <a:avLst/>
          </a:prstGeom>
          <a:noFill/>
        </p:spPr>
        <p:txBody>
          <a:bodyPr wrap="square" rtlCol="0">
            <a:spAutoFit/>
          </a:bodyPr>
          <a:lstStyle/>
          <a:p>
            <a:r>
              <a:rPr lang="ja-JP" altLang="en-US" sz="1200" dirty="0"/>
              <a:t>ＮＲＣ</a:t>
            </a:r>
            <a:r>
              <a:rPr kumimoji="1" lang="ja-JP" altLang="en-US" sz="1200" dirty="0"/>
              <a:t>乳牛飼養標準（</a:t>
            </a:r>
            <a:r>
              <a:rPr kumimoji="1" lang="en-US" altLang="ja-JP" sz="1200" dirty="0"/>
              <a:t>2001</a:t>
            </a:r>
            <a:r>
              <a:rPr kumimoji="1" lang="ja-JP" altLang="en-US" sz="1200" dirty="0"/>
              <a:t>年・第</a:t>
            </a:r>
            <a:r>
              <a:rPr kumimoji="1" lang="en-US" altLang="ja-JP" sz="1200" dirty="0"/>
              <a:t>7</a:t>
            </a:r>
            <a:r>
              <a:rPr kumimoji="1" lang="ja-JP" altLang="en-US" sz="1200" dirty="0"/>
              <a:t>版）では、最大の乳たん白質生産（＝乳量</a:t>
            </a:r>
            <a:endParaRPr kumimoji="1" lang="en-US" altLang="ja-JP" sz="1200" dirty="0"/>
          </a:p>
          <a:p>
            <a:r>
              <a:rPr kumimoji="1" lang="ja-JP" altLang="en-US" sz="1200" dirty="0"/>
              <a:t>増加）を得るための十二指腸内容物の総アミノ酸に占める</a:t>
            </a:r>
            <a:r>
              <a:rPr kumimoji="1" lang="ja-JP" altLang="en-US" sz="1200" b="1" dirty="0">
                <a:solidFill>
                  <a:srgbClr val="FF0000"/>
                </a:solidFill>
              </a:rPr>
              <a:t>リジンとメチオニン</a:t>
            </a:r>
            <a:endParaRPr kumimoji="1" lang="en-US" altLang="ja-JP" sz="1200" b="1" dirty="0">
              <a:solidFill>
                <a:srgbClr val="FF0000"/>
              </a:solidFill>
            </a:endParaRPr>
          </a:p>
          <a:p>
            <a:r>
              <a:rPr kumimoji="1" lang="ja-JP" altLang="en-US" sz="1200" dirty="0"/>
              <a:t>の割合に言及しており、“乳たん白の維持および生産に対して代謝たん白質（</a:t>
            </a:r>
            <a:r>
              <a:rPr kumimoji="1" lang="en-US" altLang="ja-JP" sz="1200" dirty="0"/>
              <a:t>MP</a:t>
            </a:r>
            <a:r>
              <a:rPr kumimoji="1" lang="ja-JP" altLang="en-US" sz="1200" dirty="0"/>
              <a:t>）が最適に利用されるための</a:t>
            </a:r>
            <a:r>
              <a:rPr kumimoji="1" lang="ja-JP" altLang="en-US" sz="1200" b="1" dirty="0">
                <a:solidFill>
                  <a:srgbClr val="FF0000"/>
                </a:solidFill>
              </a:rPr>
              <a:t>リジンとメチオニン</a:t>
            </a:r>
            <a:r>
              <a:rPr kumimoji="1" lang="ja-JP" altLang="en-US" sz="1200" dirty="0"/>
              <a:t>の含量は、代謝たん白</a:t>
            </a:r>
            <a:endParaRPr kumimoji="1" lang="en-US" altLang="ja-JP" sz="1200" dirty="0"/>
          </a:p>
          <a:p>
            <a:r>
              <a:rPr kumimoji="1" lang="ja-JP" altLang="en-US" sz="1200" dirty="0"/>
              <a:t>質（</a:t>
            </a:r>
            <a:r>
              <a:rPr kumimoji="1" lang="en-US" altLang="ja-JP" sz="1200" dirty="0"/>
              <a:t>MP</a:t>
            </a:r>
            <a:r>
              <a:rPr kumimoji="1" lang="ja-JP" altLang="en-US" sz="1200" dirty="0"/>
              <a:t>）中　リジン</a:t>
            </a:r>
            <a:r>
              <a:rPr kumimoji="1" lang="en-US" altLang="ja-JP" sz="1200" dirty="0"/>
              <a:t>7.2</a:t>
            </a:r>
            <a:r>
              <a:rPr kumimoji="1" lang="ja-JP" altLang="en-US" sz="1200" dirty="0"/>
              <a:t>％とメチオニン</a:t>
            </a:r>
            <a:r>
              <a:rPr kumimoji="1" lang="en-US" altLang="ja-JP" sz="1200" dirty="0"/>
              <a:t>2.4</a:t>
            </a:r>
            <a:r>
              <a:rPr kumimoji="1" lang="ja-JP" altLang="en-US" sz="1200" dirty="0"/>
              <a:t>％である”としています。</a:t>
            </a:r>
            <a:br>
              <a:rPr kumimoji="1" lang="en-US" altLang="ja-JP" sz="1200" dirty="0"/>
            </a:br>
            <a:r>
              <a:rPr kumimoji="1" lang="ja-JP" altLang="en-US" sz="1200" dirty="0"/>
              <a:t>十二指腸</a:t>
            </a:r>
            <a:r>
              <a:rPr kumimoji="1" lang="en-US" altLang="ja-JP" sz="1200" dirty="0"/>
              <a:t>MP</a:t>
            </a:r>
            <a:r>
              <a:rPr kumimoji="1" lang="ja-JP" altLang="en-US" sz="1200" dirty="0"/>
              <a:t>のリジン、メチオニンバランスは、筋組織（赤肉）や乳（牛乳）</a:t>
            </a:r>
            <a:endParaRPr kumimoji="1" lang="en-US" altLang="ja-JP" sz="1200" dirty="0"/>
          </a:p>
          <a:p>
            <a:r>
              <a:rPr kumimoji="1" lang="ja-JP" altLang="en-US" sz="1200" dirty="0"/>
              <a:t>などの畜産生産物に大変近いことがわかります。</a:t>
            </a:r>
          </a:p>
        </p:txBody>
      </p:sp>
      <p:graphicFrame>
        <p:nvGraphicFramePr>
          <p:cNvPr id="1024" name="表 1023">
            <a:extLst>
              <a:ext uri="{FF2B5EF4-FFF2-40B4-BE49-F238E27FC236}">
                <a16:creationId xmlns:a16="http://schemas.microsoft.com/office/drawing/2014/main" id="{46CCC85F-87DF-C414-3FE2-685E46DA9CCD}"/>
              </a:ext>
            </a:extLst>
          </p:cNvPr>
          <p:cNvGraphicFramePr>
            <a:graphicFrameLocks noGrp="1"/>
          </p:cNvGraphicFramePr>
          <p:nvPr>
            <p:extLst>
              <p:ext uri="{D42A27DB-BD31-4B8C-83A1-F6EECF244321}">
                <p14:modId xmlns:p14="http://schemas.microsoft.com/office/powerpoint/2010/main" val="4294680038"/>
              </p:ext>
            </p:extLst>
          </p:nvPr>
        </p:nvGraphicFramePr>
        <p:xfrm>
          <a:off x="6393820" y="2184803"/>
          <a:ext cx="5142476" cy="1163596"/>
        </p:xfrm>
        <a:graphic>
          <a:graphicData uri="http://schemas.openxmlformats.org/drawingml/2006/table">
            <a:tbl>
              <a:tblPr firstRow="1" bandRow="1">
                <a:tableStyleId>{5C22544A-7EE6-4342-B048-85BDC9FD1C3A}</a:tableStyleId>
              </a:tblPr>
              <a:tblGrid>
                <a:gridCol w="1285619">
                  <a:extLst>
                    <a:ext uri="{9D8B030D-6E8A-4147-A177-3AD203B41FA5}">
                      <a16:colId xmlns:a16="http://schemas.microsoft.com/office/drawing/2014/main" val="1831304103"/>
                    </a:ext>
                  </a:extLst>
                </a:gridCol>
                <a:gridCol w="1285619">
                  <a:extLst>
                    <a:ext uri="{9D8B030D-6E8A-4147-A177-3AD203B41FA5}">
                      <a16:colId xmlns:a16="http://schemas.microsoft.com/office/drawing/2014/main" val="3982953347"/>
                    </a:ext>
                  </a:extLst>
                </a:gridCol>
                <a:gridCol w="1285619">
                  <a:extLst>
                    <a:ext uri="{9D8B030D-6E8A-4147-A177-3AD203B41FA5}">
                      <a16:colId xmlns:a16="http://schemas.microsoft.com/office/drawing/2014/main" val="2079292573"/>
                    </a:ext>
                  </a:extLst>
                </a:gridCol>
                <a:gridCol w="1285619">
                  <a:extLst>
                    <a:ext uri="{9D8B030D-6E8A-4147-A177-3AD203B41FA5}">
                      <a16:colId xmlns:a16="http://schemas.microsoft.com/office/drawing/2014/main" val="2590078663"/>
                    </a:ext>
                  </a:extLst>
                </a:gridCol>
              </a:tblGrid>
              <a:tr h="290899">
                <a:tc>
                  <a:txBody>
                    <a:bodyPr/>
                    <a:lstStyle/>
                    <a:p>
                      <a:endParaRPr kumimoji="1" lang="ja-JP" altLang="en-US" sz="1100"/>
                    </a:p>
                  </a:txBody>
                  <a:tcPr/>
                </a:tc>
                <a:tc>
                  <a:txBody>
                    <a:bodyPr/>
                    <a:lstStyle/>
                    <a:p>
                      <a:pPr algn="ctr"/>
                      <a:r>
                        <a:rPr kumimoji="1" lang="ja-JP" altLang="en-US" sz="1100" dirty="0"/>
                        <a:t>リジン（</a:t>
                      </a:r>
                      <a:r>
                        <a:rPr kumimoji="1" lang="en-US" altLang="ja-JP" sz="1100" dirty="0"/>
                        <a:t>L</a:t>
                      </a:r>
                      <a:r>
                        <a:rPr kumimoji="1" lang="ja-JP" altLang="en-US" sz="1100" dirty="0"/>
                        <a:t>）</a:t>
                      </a:r>
                    </a:p>
                  </a:txBody>
                  <a:tcPr/>
                </a:tc>
                <a:tc>
                  <a:txBody>
                    <a:bodyPr/>
                    <a:lstStyle/>
                    <a:p>
                      <a:pPr algn="ctr"/>
                      <a:r>
                        <a:rPr kumimoji="1" lang="ja-JP" altLang="en-US" sz="1100" dirty="0"/>
                        <a:t>メチオニン（</a:t>
                      </a:r>
                      <a:r>
                        <a:rPr kumimoji="1" lang="en-US" altLang="ja-JP" sz="1100" dirty="0"/>
                        <a:t>M)</a:t>
                      </a:r>
                      <a:endParaRPr kumimoji="1" lang="ja-JP" altLang="en-US" sz="1100" dirty="0"/>
                    </a:p>
                  </a:txBody>
                  <a:tcPr/>
                </a:tc>
                <a:tc>
                  <a:txBody>
                    <a:bodyPr/>
                    <a:lstStyle/>
                    <a:p>
                      <a:pPr algn="ctr"/>
                      <a:r>
                        <a:rPr kumimoji="1" lang="ja-JP" altLang="en-US" sz="1100" dirty="0"/>
                        <a:t>Ｌ：Ｍ　比</a:t>
                      </a:r>
                    </a:p>
                  </a:txBody>
                  <a:tcPr/>
                </a:tc>
                <a:extLst>
                  <a:ext uri="{0D108BD9-81ED-4DB2-BD59-A6C34878D82A}">
                    <a16:rowId xmlns:a16="http://schemas.microsoft.com/office/drawing/2014/main" val="1120798955"/>
                  </a:ext>
                </a:extLst>
              </a:tr>
              <a:tr h="290899">
                <a:tc>
                  <a:txBody>
                    <a:bodyPr/>
                    <a:lstStyle/>
                    <a:p>
                      <a:pPr algn="ctr"/>
                      <a:r>
                        <a:rPr kumimoji="1" lang="ja-JP" altLang="en-US" sz="1200" b="1" dirty="0"/>
                        <a:t>十二指腸</a:t>
                      </a:r>
                      <a:r>
                        <a:rPr kumimoji="1" lang="en-US" altLang="ja-JP" sz="1200" b="1" dirty="0"/>
                        <a:t>MP</a:t>
                      </a:r>
                      <a:endParaRPr kumimoji="1" lang="ja-JP" altLang="en-US" sz="1200" b="1" dirty="0"/>
                    </a:p>
                  </a:txBody>
                  <a:tcPr/>
                </a:tc>
                <a:tc>
                  <a:txBody>
                    <a:bodyPr/>
                    <a:lstStyle/>
                    <a:p>
                      <a:pPr algn="ctr"/>
                      <a:r>
                        <a:rPr kumimoji="1" lang="en-US" altLang="ja-JP" sz="1200" b="1" dirty="0"/>
                        <a:t>7.2</a:t>
                      </a:r>
                      <a:r>
                        <a:rPr kumimoji="1" lang="ja-JP" altLang="en-US" sz="1200" b="1" dirty="0"/>
                        <a:t>％</a:t>
                      </a:r>
                    </a:p>
                  </a:txBody>
                  <a:tcPr/>
                </a:tc>
                <a:tc>
                  <a:txBody>
                    <a:bodyPr/>
                    <a:lstStyle/>
                    <a:p>
                      <a:pPr algn="ctr"/>
                      <a:r>
                        <a:rPr kumimoji="1" lang="en-US" altLang="ja-JP" sz="1200" b="1" dirty="0"/>
                        <a:t>2.4</a:t>
                      </a:r>
                      <a:r>
                        <a:rPr kumimoji="1" lang="ja-JP" altLang="en-US" sz="1200" b="1" dirty="0"/>
                        <a:t>％</a:t>
                      </a:r>
                    </a:p>
                  </a:txBody>
                  <a:tcPr/>
                </a:tc>
                <a:tc>
                  <a:txBody>
                    <a:bodyPr/>
                    <a:lstStyle/>
                    <a:p>
                      <a:pPr algn="ctr"/>
                      <a:r>
                        <a:rPr kumimoji="1" lang="en-US" altLang="ja-JP" sz="1200" b="1" dirty="0"/>
                        <a:t>3.0</a:t>
                      </a:r>
                      <a:r>
                        <a:rPr kumimoji="1" lang="ja-JP" altLang="en-US" sz="1200" b="1" dirty="0"/>
                        <a:t>：</a:t>
                      </a:r>
                      <a:r>
                        <a:rPr kumimoji="1" lang="en-US" altLang="ja-JP" sz="1200" b="1" dirty="0"/>
                        <a:t>1.0</a:t>
                      </a:r>
                      <a:endParaRPr kumimoji="1" lang="ja-JP" altLang="en-US" sz="1200" b="1" dirty="0"/>
                    </a:p>
                  </a:txBody>
                  <a:tcPr/>
                </a:tc>
                <a:extLst>
                  <a:ext uri="{0D108BD9-81ED-4DB2-BD59-A6C34878D82A}">
                    <a16:rowId xmlns:a16="http://schemas.microsoft.com/office/drawing/2014/main" val="1369348812"/>
                  </a:ext>
                </a:extLst>
              </a:tr>
              <a:tr h="290899">
                <a:tc>
                  <a:txBody>
                    <a:bodyPr/>
                    <a:lstStyle/>
                    <a:p>
                      <a:pPr algn="ctr"/>
                      <a:r>
                        <a:rPr kumimoji="1" lang="ja-JP" altLang="en-US" sz="1200" b="1" dirty="0"/>
                        <a:t>乳</a:t>
                      </a:r>
                    </a:p>
                  </a:txBody>
                  <a:tcPr/>
                </a:tc>
                <a:tc>
                  <a:txBody>
                    <a:bodyPr/>
                    <a:lstStyle/>
                    <a:p>
                      <a:pPr algn="ctr"/>
                      <a:r>
                        <a:rPr kumimoji="1" lang="en-US" altLang="ja-JP" sz="1200" b="1" dirty="0"/>
                        <a:t>16.0</a:t>
                      </a:r>
                      <a:r>
                        <a:rPr kumimoji="1" lang="ja-JP" altLang="en-US" sz="1200" b="1" dirty="0"/>
                        <a:t>％</a:t>
                      </a:r>
                    </a:p>
                  </a:txBody>
                  <a:tcPr/>
                </a:tc>
                <a:tc>
                  <a:txBody>
                    <a:bodyPr/>
                    <a:lstStyle/>
                    <a:p>
                      <a:pPr algn="ctr"/>
                      <a:r>
                        <a:rPr kumimoji="1" lang="en-US" altLang="ja-JP" sz="1200" b="1" dirty="0"/>
                        <a:t>5.5</a:t>
                      </a:r>
                      <a:r>
                        <a:rPr kumimoji="1" lang="ja-JP" altLang="en-US" sz="1200" b="1" dirty="0"/>
                        <a:t>％</a:t>
                      </a:r>
                    </a:p>
                  </a:txBody>
                  <a:tcPr/>
                </a:tc>
                <a:tc>
                  <a:txBody>
                    <a:bodyPr/>
                    <a:lstStyle/>
                    <a:p>
                      <a:pPr algn="ctr"/>
                      <a:r>
                        <a:rPr kumimoji="1" lang="en-US" altLang="ja-JP" sz="1200" b="1" dirty="0"/>
                        <a:t>2.9</a:t>
                      </a:r>
                      <a:r>
                        <a:rPr kumimoji="1" lang="ja-JP" altLang="en-US" sz="1200" b="1" dirty="0"/>
                        <a:t>：</a:t>
                      </a:r>
                      <a:r>
                        <a:rPr kumimoji="1" lang="en-US" altLang="ja-JP" sz="1200" b="1" dirty="0"/>
                        <a:t>1.0</a:t>
                      </a:r>
                      <a:endParaRPr kumimoji="1" lang="ja-JP" altLang="en-US" sz="1200" b="1" dirty="0"/>
                    </a:p>
                  </a:txBody>
                  <a:tcPr/>
                </a:tc>
                <a:extLst>
                  <a:ext uri="{0D108BD9-81ED-4DB2-BD59-A6C34878D82A}">
                    <a16:rowId xmlns:a16="http://schemas.microsoft.com/office/drawing/2014/main" val="377043830"/>
                  </a:ext>
                </a:extLst>
              </a:tr>
              <a:tr h="290899">
                <a:tc>
                  <a:txBody>
                    <a:bodyPr/>
                    <a:lstStyle/>
                    <a:p>
                      <a:pPr algn="ctr"/>
                      <a:r>
                        <a:rPr kumimoji="1" lang="ja-JP" altLang="en-US" sz="1200" b="1" dirty="0"/>
                        <a:t>筋組織（赤肉）</a:t>
                      </a:r>
                    </a:p>
                  </a:txBody>
                  <a:tcPr/>
                </a:tc>
                <a:tc>
                  <a:txBody>
                    <a:bodyPr/>
                    <a:lstStyle/>
                    <a:p>
                      <a:pPr algn="ctr"/>
                      <a:r>
                        <a:rPr kumimoji="1" lang="en-US" altLang="ja-JP" sz="1200" b="1" dirty="0"/>
                        <a:t>16.3</a:t>
                      </a:r>
                      <a:r>
                        <a:rPr kumimoji="1" lang="ja-JP" altLang="en-US" sz="1200" b="1" dirty="0"/>
                        <a:t>％</a:t>
                      </a:r>
                    </a:p>
                  </a:txBody>
                  <a:tcPr/>
                </a:tc>
                <a:tc>
                  <a:txBody>
                    <a:bodyPr/>
                    <a:lstStyle/>
                    <a:p>
                      <a:pPr algn="ctr"/>
                      <a:r>
                        <a:rPr kumimoji="1" lang="en-US" altLang="ja-JP" sz="1200" b="1" dirty="0"/>
                        <a:t>5.1</a:t>
                      </a:r>
                      <a:r>
                        <a:rPr kumimoji="1" lang="ja-JP" altLang="en-US" sz="1200" b="1" dirty="0"/>
                        <a:t>％</a:t>
                      </a:r>
                    </a:p>
                  </a:txBody>
                  <a:tcPr/>
                </a:tc>
                <a:tc>
                  <a:txBody>
                    <a:bodyPr/>
                    <a:lstStyle/>
                    <a:p>
                      <a:pPr algn="ctr"/>
                      <a:r>
                        <a:rPr kumimoji="1" lang="en-US" altLang="ja-JP" sz="1200" b="1" dirty="0"/>
                        <a:t>3.2</a:t>
                      </a:r>
                      <a:r>
                        <a:rPr kumimoji="1" lang="ja-JP" altLang="en-US" sz="1200" b="1" dirty="0"/>
                        <a:t>：</a:t>
                      </a:r>
                      <a:r>
                        <a:rPr kumimoji="1" lang="en-US" altLang="ja-JP" sz="1200" b="1" dirty="0"/>
                        <a:t>1.0</a:t>
                      </a:r>
                      <a:endParaRPr kumimoji="1" lang="ja-JP" altLang="en-US" sz="1200" b="1" dirty="0"/>
                    </a:p>
                  </a:txBody>
                  <a:tcPr/>
                </a:tc>
                <a:extLst>
                  <a:ext uri="{0D108BD9-81ED-4DB2-BD59-A6C34878D82A}">
                    <a16:rowId xmlns:a16="http://schemas.microsoft.com/office/drawing/2014/main" val="924144248"/>
                  </a:ext>
                </a:extLst>
              </a:tr>
            </a:tbl>
          </a:graphicData>
        </a:graphic>
      </p:graphicFrame>
      <p:sp>
        <p:nvSpPr>
          <p:cNvPr id="1027" name="テキスト ボックス 1026">
            <a:extLst>
              <a:ext uri="{FF2B5EF4-FFF2-40B4-BE49-F238E27FC236}">
                <a16:creationId xmlns:a16="http://schemas.microsoft.com/office/drawing/2014/main" id="{B6303573-C810-231A-5C7A-7DC50617C2B0}"/>
              </a:ext>
            </a:extLst>
          </p:cNvPr>
          <p:cNvSpPr txBox="1"/>
          <p:nvPr/>
        </p:nvSpPr>
        <p:spPr>
          <a:xfrm>
            <a:off x="6390213" y="3463673"/>
            <a:ext cx="5442718" cy="461665"/>
          </a:xfrm>
          <a:prstGeom prst="rect">
            <a:avLst/>
          </a:prstGeom>
          <a:noFill/>
        </p:spPr>
        <p:txBody>
          <a:bodyPr wrap="square" rtlCol="0">
            <a:spAutoFit/>
          </a:bodyPr>
          <a:lstStyle/>
          <a:p>
            <a:r>
              <a:rPr kumimoji="1" lang="ja-JP" altLang="en-US" sz="1200" b="1" dirty="0">
                <a:solidFill>
                  <a:srgbClr val="FF0000"/>
                </a:solidFill>
              </a:rPr>
              <a:t>バイパスたん白</a:t>
            </a:r>
            <a:r>
              <a:rPr kumimoji="1" lang="ja-JP" altLang="en-US" sz="1200" dirty="0"/>
              <a:t>を活用し、牛が直接利用できる栄養源として消化管に理想バランスのアミノ酸を補うことで効率的な吸収と生産性の向上につながります。</a:t>
            </a:r>
          </a:p>
        </p:txBody>
      </p:sp>
      <p:sp>
        <p:nvSpPr>
          <p:cNvPr id="1035" name="テキスト ボックス 1034">
            <a:extLst>
              <a:ext uri="{FF2B5EF4-FFF2-40B4-BE49-F238E27FC236}">
                <a16:creationId xmlns:a16="http://schemas.microsoft.com/office/drawing/2014/main" id="{48E1CA94-90C2-3218-8173-51A3E0C1A496}"/>
              </a:ext>
            </a:extLst>
          </p:cNvPr>
          <p:cNvSpPr txBox="1"/>
          <p:nvPr/>
        </p:nvSpPr>
        <p:spPr>
          <a:xfrm>
            <a:off x="153413" y="1620079"/>
            <a:ext cx="4876800" cy="338554"/>
          </a:xfrm>
          <a:prstGeom prst="rect">
            <a:avLst/>
          </a:prstGeom>
          <a:noFill/>
        </p:spPr>
        <p:txBody>
          <a:bodyPr wrap="square" rtlCol="0">
            <a:spAutoFit/>
          </a:bodyPr>
          <a:lstStyle/>
          <a:p>
            <a:r>
              <a:rPr kumimoji="1" lang="ja-JP" altLang="en-US" sz="1600" b="1" dirty="0"/>
              <a:t>１．バイパスたん白とは？</a:t>
            </a:r>
            <a:endParaRPr kumimoji="1" lang="en-US" altLang="ja-JP" sz="1600" b="1" dirty="0"/>
          </a:p>
        </p:txBody>
      </p:sp>
      <p:sp>
        <p:nvSpPr>
          <p:cNvPr id="1036" name="テキスト ボックス 1035">
            <a:extLst>
              <a:ext uri="{FF2B5EF4-FFF2-40B4-BE49-F238E27FC236}">
                <a16:creationId xmlns:a16="http://schemas.microsoft.com/office/drawing/2014/main" id="{28655E10-665F-648B-0F21-072013B73BBB}"/>
              </a:ext>
            </a:extLst>
          </p:cNvPr>
          <p:cNvSpPr txBox="1"/>
          <p:nvPr/>
        </p:nvSpPr>
        <p:spPr>
          <a:xfrm>
            <a:off x="6211172" y="4116552"/>
            <a:ext cx="3404438" cy="338554"/>
          </a:xfrm>
          <a:prstGeom prst="rect">
            <a:avLst/>
          </a:prstGeom>
          <a:noFill/>
        </p:spPr>
        <p:txBody>
          <a:bodyPr wrap="square" rtlCol="0">
            <a:spAutoFit/>
          </a:bodyPr>
          <a:lstStyle/>
          <a:p>
            <a:r>
              <a:rPr lang="ja-JP" altLang="en-US" sz="1600" b="1" dirty="0"/>
              <a:t>４．ソイパス（</a:t>
            </a:r>
            <a:r>
              <a:rPr lang="en-US" altLang="ja-JP" sz="1600" b="1" dirty="0" err="1"/>
              <a:t>SoyPass</a:t>
            </a:r>
            <a:r>
              <a:rPr lang="ja-JP" altLang="en-US" sz="1600" b="1" dirty="0"/>
              <a:t>）とは？</a:t>
            </a:r>
            <a:endParaRPr kumimoji="1" lang="en-US" altLang="ja-JP" sz="1600" b="1" dirty="0"/>
          </a:p>
        </p:txBody>
      </p:sp>
      <p:pic>
        <p:nvPicPr>
          <p:cNvPr id="1037" name="図 1036">
            <a:extLst>
              <a:ext uri="{FF2B5EF4-FFF2-40B4-BE49-F238E27FC236}">
                <a16:creationId xmlns:a16="http://schemas.microsoft.com/office/drawing/2014/main" id="{5BBAEA30-661D-0D2F-01F1-CCF059E43BD3}"/>
              </a:ext>
            </a:extLst>
          </p:cNvPr>
          <p:cNvPicPr>
            <a:picLocks noChangeAspect="1"/>
          </p:cNvPicPr>
          <p:nvPr/>
        </p:nvPicPr>
        <p:blipFill>
          <a:blip r:embed="rId5"/>
          <a:stretch>
            <a:fillRect/>
          </a:stretch>
        </p:blipFill>
        <p:spPr>
          <a:xfrm>
            <a:off x="9536310" y="4404662"/>
            <a:ext cx="2405650" cy="1912492"/>
          </a:xfrm>
          <a:prstGeom prst="rect">
            <a:avLst/>
          </a:prstGeom>
        </p:spPr>
      </p:pic>
      <p:sp>
        <p:nvSpPr>
          <p:cNvPr id="3" name="四角形: 角を丸くする 2">
            <a:extLst>
              <a:ext uri="{FF2B5EF4-FFF2-40B4-BE49-F238E27FC236}">
                <a16:creationId xmlns:a16="http://schemas.microsoft.com/office/drawing/2014/main" id="{D46D9315-F4B7-2F8C-BCBF-41018EDEDF15}"/>
              </a:ext>
            </a:extLst>
          </p:cNvPr>
          <p:cNvSpPr/>
          <p:nvPr/>
        </p:nvSpPr>
        <p:spPr>
          <a:xfrm>
            <a:off x="398724" y="83214"/>
            <a:ext cx="5482583" cy="525192"/>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ln w="0"/>
                <a:solidFill>
                  <a:schemeClr val="tx1"/>
                </a:solidFill>
                <a:effectLst>
                  <a:outerShdw blurRad="38100" dist="19050" dir="2700000" algn="tl" rotWithShape="0">
                    <a:schemeClr val="dk1">
                      <a:alpha val="40000"/>
                    </a:schemeClr>
                  </a:outerShdw>
                </a:effectLst>
              </a:rPr>
              <a:t>ソイパス（</a:t>
            </a:r>
            <a:r>
              <a:rPr lang="en-US" altLang="ja-JP" sz="2000" b="1" dirty="0" err="1">
                <a:ln w="0"/>
                <a:solidFill>
                  <a:schemeClr val="tx1"/>
                </a:solidFill>
                <a:effectLst>
                  <a:outerShdw blurRad="38100" dist="19050" dir="2700000" algn="tl" rotWithShape="0">
                    <a:schemeClr val="dk1">
                      <a:alpha val="40000"/>
                    </a:schemeClr>
                  </a:outerShdw>
                </a:effectLst>
              </a:rPr>
              <a:t>SoyPass</a:t>
            </a:r>
            <a:r>
              <a:rPr lang="ja-JP" altLang="en-US" sz="2000" b="1" dirty="0">
                <a:ln w="0"/>
                <a:solidFill>
                  <a:schemeClr val="tx1"/>
                </a:solidFill>
                <a:effectLst>
                  <a:outerShdw blurRad="38100" dist="19050" dir="2700000" algn="tl" rotWithShape="0">
                    <a:schemeClr val="dk1">
                      <a:alpha val="40000"/>
                    </a:schemeClr>
                  </a:outerShdw>
                </a:effectLst>
              </a:rPr>
              <a:t>）</a:t>
            </a:r>
            <a:r>
              <a:rPr kumimoji="1" lang="ja-JP" altLang="en-US" sz="2000" b="1" dirty="0">
                <a:ln w="0"/>
                <a:solidFill>
                  <a:schemeClr val="tx1"/>
                </a:solidFill>
                <a:effectLst>
                  <a:outerShdw blurRad="38100" dist="19050" dir="2700000" algn="tl" rotWithShape="0">
                    <a:schemeClr val="dk1">
                      <a:alpha val="40000"/>
                    </a:schemeClr>
                  </a:outerShdw>
                </a:effectLst>
              </a:rPr>
              <a:t>加糖加熱処理大豆</a:t>
            </a:r>
            <a:r>
              <a:rPr lang="ja-JP" altLang="en-US" sz="2000" b="1" dirty="0">
                <a:ln w="0"/>
                <a:solidFill>
                  <a:schemeClr val="tx1"/>
                </a:solidFill>
                <a:effectLst>
                  <a:outerShdw blurRad="38100" dist="19050" dir="2700000" algn="tl" rotWithShape="0">
                    <a:schemeClr val="dk1">
                      <a:alpha val="40000"/>
                    </a:schemeClr>
                  </a:outerShdw>
                </a:effectLst>
              </a:rPr>
              <a:t>かす</a:t>
            </a:r>
            <a:endParaRPr kumimoji="1" lang="en-US" altLang="ja-JP" sz="2000" b="1" dirty="0">
              <a:ln w="0"/>
              <a:solidFill>
                <a:schemeClr val="tx1"/>
              </a:solidFill>
              <a:effectLst>
                <a:outerShdw blurRad="38100" dist="19050" dir="2700000" algn="tl" rotWithShape="0">
                  <a:schemeClr val="dk1">
                    <a:alpha val="40000"/>
                  </a:schemeClr>
                </a:outerShdw>
              </a:effectLst>
            </a:endParaRPr>
          </a:p>
        </p:txBody>
      </p:sp>
      <p:pic>
        <p:nvPicPr>
          <p:cNvPr id="2" name="Picture 2" descr="株式会社カスケディア・トレーディング">
            <a:extLst>
              <a:ext uri="{FF2B5EF4-FFF2-40B4-BE49-F238E27FC236}">
                <a16:creationId xmlns:a16="http://schemas.microsoft.com/office/drawing/2014/main" id="{24A6F3DB-4C66-9B56-ED43-372B32E579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223" y="820410"/>
            <a:ext cx="3302785" cy="409961"/>
          </a:xfrm>
          <a:prstGeom prst="rect">
            <a:avLst/>
          </a:prstGeom>
          <a:noFill/>
          <a:extLst>
            <a:ext uri="{909E8E84-426E-40DD-AFC4-6F175D3DCCD1}">
              <a14:hiddenFill xmlns:a14="http://schemas.microsoft.com/office/drawing/2010/main">
                <a:solidFill>
                  <a:srgbClr val="FFFFFF"/>
                </a:solidFill>
              </a14:hiddenFill>
            </a:ext>
          </a:extLst>
        </p:spPr>
      </p:pic>
      <p:sp>
        <p:nvSpPr>
          <p:cNvPr id="7" name="テキスト ボックス 6">
            <a:extLst>
              <a:ext uri="{FF2B5EF4-FFF2-40B4-BE49-F238E27FC236}">
                <a16:creationId xmlns:a16="http://schemas.microsoft.com/office/drawing/2014/main" id="{AF561B1D-FC82-CCFC-3CD5-B6052DBE4EAC}"/>
              </a:ext>
            </a:extLst>
          </p:cNvPr>
          <p:cNvSpPr txBox="1"/>
          <p:nvPr/>
        </p:nvSpPr>
        <p:spPr>
          <a:xfrm>
            <a:off x="3566227" y="665274"/>
            <a:ext cx="2512279" cy="707886"/>
          </a:xfrm>
          <a:prstGeom prst="rect">
            <a:avLst/>
          </a:prstGeom>
          <a:noFill/>
        </p:spPr>
        <p:txBody>
          <a:bodyPr wrap="square">
            <a:spAutoFit/>
          </a:bodyPr>
          <a:lstStyle/>
          <a:p>
            <a:r>
              <a:rPr lang="ja-JP" altLang="en-US" sz="1000" dirty="0"/>
              <a:t>〒</a:t>
            </a:r>
            <a:r>
              <a:rPr lang="en-US" altLang="ja-JP" sz="1000" dirty="0"/>
              <a:t>330-0063</a:t>
            </a:r>
          </a:p>
          <a:p>
            <a:r>
              <a:rPr lang="ja-JP" altLang="en-US" sz="1000" dirty="0"/>
              <a:t>埼玉県さいたま市浦和区高砂</a:t>
            </a:r>
            <a:r>
              <a:rPr lang="en-US" altLang="ja-JP" sz="1000" dirty="0"/>
              <a:t>2</a:t>
            </a:r>
            <a:r>
              <a:rPr lang="ja-JP" altLang="en-US" sz="1000" dirty="0"/>
              <a:t>丁目</a:t>
            </a:r>
            <a:r>
              <a:rPr lang="en-US" altLang="ja-JP" sz="1000" dirty="0"/>
              <a:t>11</a:t>
            </a:r>
            <a:r>
              <a:rPr lang="ja-JP" altLang="en-US" sz="1000" dirty="0"/>
              <a:t>番</a:t>
            </a:r>
            <a:r>
              <a:rPr lang="en-US" altLang="ja-JP" sz="1000" dirty="0"/>
              <a:t>13</a:t>
            </a:r>
            <a:r>
              <a:rPr lang="ja-JP" altLang="en-US" sz="1000" dirty="0"/>
              <a:t>号新和ビル</a:t>
            </a:r>
            <a:r>
              <a:rPr lang="en-US" altLang="ja-JP" sz="1000" dirty="0"/>
              <a:t>3F</a:t>
            </a:r>
          </a:p>
          <a:p>
            <a:r>
              <a:rPr lang="en-US" altLang="ja-JP" sz="1000" dirty="0"/>
              <a:t>TEL 048-762-9340</a:t>
            </a:r>
            <a:r>
              <a:rPr lang="ja-JP" altLang="en-US" sz="1000" dirty="0"/>
              <a:t>　</a:t>
            </a:r>
            <a:r>
              <a:rPr lang="en-US" altLang="ja-JP" sz="1000" dirty="0"/>
              <a:t>FAX 048-762-9360</a:t>
            </a:r>
            <a:endParaRPr lang="ja-JP" altLang="en-US" sz="1000" dirty="0"/>
          </a:p>
        </p:txBody>
      </p:sp>
      <p:pic>
        <p:nvPicPr>
          <p:cNvPr id="8" name="図 7">
            <a:extLst>
              <a:ext uri="{FF2B5EF4-FFF2-40B4-BE49-F238E27FC236}">
                <a16:creationId xmlns:a16="http://schemas.microsoft.com/office/drawing/2014/main" id="{6EDF7E9E-55AF-5B48-3FCC-CAE2C2F1C8B1}"/>
              </a:ext>
            </a:extLst>
          </p:cNvPr>
          <p:cNvPicPr>
            <a:picLocks noChangeAspect="1"/>
          </p:cNvPicPr>
          <p:nvPr/>
        </p:nvPicPr>
        <p:blipFill>
          <a:blip r:embed="rId7"/>
          <a:stretch>
            <a:fillRect/>
          </a:stretch>
        </p:blipFill>
        <p:spPr>
          <a:xfrm>
            <a:off x="8734269" y="6435173"/>
            <a:ext cx="3304318" cy="408467"/>
          </a:xfrm>
          <a:prstGeom prst="rect">
            <a:avLst/>
          </a:prstGeom>
        </p:spPr>
      </p:pic>
    </p:spTree>
    <p:extLst>
      <p:ext uri="{BB962C8B-B14F-4D97-AF65-F5344CB8AC3E}">
        <p14:creationId xmlns:p14="http://schemas.microsoft.com/office/powerpoint/2010/main" val="152676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4CB6335-8AAE-9FEF-192B-CC0C17C98779}"/>
              </a:ext>
            </a:extLst>
          </p:cNvPr>
          <p:cNvSpPr txBox="1"/>
          <p:nvPr/>
        </p:nvSpPr>
        <p:spPr>
          <a:xfrm>
            <a:off x="6220935" y="5355733"/>
            <a:ext cx="5202934" cy="1200329"/>
          </a:xfrm>
          <a:prstGeom prst="rect">
            <a:avLst/>
          </a:prstGeom>
          <a:noFill/>
        </p:spPr>
        <p:txBody>
          <a:bodyPr wrap="square" rtlCol="0">
            <a:spAutoFit/>
          </a:bodyPr>
          <a:lstStyle/>
          <a:p>
            <a:r>
              <a:rPr kumimoji="1" lang="ja-JP" altLang="en-US" sz="1200" dirty="0"/>
              <a:t>成長期はたん白質の要求量が高くなります。ヒトも一緒です。子どもに「今日は何が食べたい？」と質問するとほぼ確実に「お肉っ</a:t>
            </a:r>
            <a:r>
              <a:rPr kumimoji="1" lang="en-US" altLang="ja-JP" sz="1200" dirty="0"/>
              <a:t>‼</a:t>
            </a:r>
            <a:r>
              <a:rPr kumimoji="1" lang="ja-JP" altLang="en-US" sz="1200" dirty="0"/>
              <a:t>」と回答します。成長期には体がたん白質を欲しがるので当然です。</a:t>
            </a:r>
            <a:endParaRPr kumimoji="1" lang="en-US" altLang="ja-JP" sz="1200" dirty="0"/>
          </a:p>
          <a:p>
            <a:r>
              <a:rPr kumimoji="1" lang="ja-JP" altLang="en-US" sz="1200" dirty="0"/>
              <a:t>　注意：ここで言うたん白というのは良質なたん白</a:t>
            </a:r>
            <a:endParaRPr kumimoji="1" lang="en-US" altLang="ja-JP" sz="1200" dirty="0"/>
          </a:p>
          <a:p>
            <a:r>
              <a:rPr lang="ja-JP" altLang="en-US" sz="1200" dirty="0"/>
              <a:t>　　　　</a:t>
            </a:r>
            <a:r>
              <a:rPr kumimoji="1" lang="ja-JP" altLang="en-US" sz="1200" dirty="0"/>
              <a:t>＝リジン：メチオニンのバランスが取れたたん白質</a:t>
            </a:r>
            <a:endParaRPr kumimoji="1" lang="en-US" altLang="ja-JP" sz="1200" dirty="0"/>
          </a:p>
          <a:p>
            <a:r>
              <a:rPr lang="ja-JP" altLang="en-US" sz="1200" dirty="0"/>
              <a:t>　　　　</a:t>
            </a:r>
            <a:r>
              <a:rPr kumimoji="1" lang="ja-JP" altLang="en-US" sz="1200" dirty="0"/>
              <a:t>＝肉≒大豆系たん白質</a:t>
            </a:r>
            <a:endParaRPr kumimoji="1" lang="en-US" altLang="ja-JP" sz="1200" dirty="0"/>
          </a:p>
        </p:txBody>
      </p:sp>
      <p:sp>
        <p:nvSpPr>
          <p:cNvPr id="10" name="テキスト ボックス 9">
            <a:extLst>
              <a:ext uri="{FF2B5EF4-FFF2-40B4-BE49-F238E27FC236}">
                <a16:creationId xmlns:a16="http://schemas.microsoft.com/office/drawing/2014/main" id="{3066C21B-1F89-13BB-50C1-4C854FC93215}"/>
              </a:ext>
            </a:extLst>
          </p:cNvPr>
          <p:cNvSpPr txBox="1"/>
          <p:nvPr/>
        </p:nvSpPr>
        <p:spPr>
          <a:xfrm>
            <a:off x="6000368" y="2667538"/>
            <a:ext cx="4514850" cy="338554"/>
          </a:xfrm>
          <a:prstGeom prst="rect">
            <a:avLst/>
          </a:prstGeom>
          <a:noFill/>
        </p:spPr>
        <p:txBody>
          <a:bodyPr wrap="square" rtlCol="0">
            <a:spAutoFit/>
          </a:bodyPr>
          <a:lstStyle/>
          <a:p>
            <a:r>
              <a:rPr lang="ja-JP" altLang="en-US" sz="1600" b="1" dirty="0">
                <a:solidFill>
                  <a:srgbClr val="FF0000"/>
                </a:solidFill>
                <a:highlight>
                  <a:srgbClr val="FFFF00"/>
                </a:highlight>
              </a:rPr>
              <a:t>４．ソイパスを給与すべき時期</a:t>
            </a:r>
            <a:endParaRPr kumimoji="1" lang="en-US" altLang="ja-JP" sz="1600" b="1" dirty="0">
              <a:solidFill>
                <a:srgbClr val="FF0000"/>
              </a:solidFill>
              <a:highlight>
                <a:srgbClr val="FFFF00"/>
              </a:highlight>
            </a:endParaRPr>
          </a:p>
        </p:txBody>
      </p:sp>
      <p:grpSp>
        <p:nvGrpSpPr>
          <p:cNvPr id="7" name="グループ化 6">
            <a:extLst>
              <a:ext uri="{FF2B5EF4-FFF2-40B4-BE49-F238E27FC236}">
                <a16:creationId xmlns:a16="http://schemas.microsoft.com/office/drawing/2014/main" id="{A6A11858-D21A-4C49-8C69-D80E929D6026}"/>
              </a:ext>
            </a:extLst>
          </p:cNvPr>
          <p:cNvGrpSpPr/>
          <p:nvPr/>
        </p:nvGrpSpPr>
        <p:grpSpPr>
          <a:xfrm>
            <a:off x="8613291" y="201003"/>
            <a:ext cx="3702534" cy="2459936"/>
            <a:chOff x="2277994" y="4360587"/>
            <a:chExt cx="3578709" cy="2353551"/>
          </a:xfrm>
        </p:grpSpPr>
        <p:pic>
          <p:nvPicPr>
            <p:cNvPr id="11" name="図 10">
              <a:extLst>
                <a:ext uri="{FF2B5EF4-FFF2-40B4-BE49-F238E27FC236}">
                  <a16:creationId xmlns:a16="http://schemas.microsoft.com/office/drawing/2014/main" id="{46D248D6-F9E4-D343-CAC3-B3A840FA829E}"/>
                </a:ext>
              </a:extLst>
            </p:cNvPr>
            <p:cNvPicPr>
              <a:picLocks noChangeAspect="1"/>
            </p:cNvPicPr>
            <p:nvPr/>
          </p:nvPicPr>
          <p:blipFill>
            <a:blip r:embed="rId2"/>
            <a:stretch>
              <a:fillRect/>
            </a:stretch>
          </p:blipFill>
          <p:spPr>
            <a:xfrm>
              <a:off x="2678043" y="4360587"/>
              <a:ext cx="2455933" cy="2058627"/>
            </a:xfrm>
            <a:prstGeom prst="rect">
              <a:avLst/>
            </a:prstGeom>
          </p:spPr>
        </p:pic>
        <p:sp>
          <p:nvSpPr>
            <p:cNvPr id="12" name="テキスト ボックス 11">
              <a:extLst>
                <a:ext uri="{FF2B5EF4-FFF2-40B4-BE49-F238E27FC236}">
                  <a16:creationId xmlns:a16="http://schemas.microsoft.com/office/drawing/2014/main" id="{C98EB1D0-0A7A-DA1E-C51B-1AD6F456E4EF}"/>
                </a:ext>
              </a:extLst>
            </p:cNvPr>
            <p:cNvSpPr txBox="1"/>
            <p:nvPr/>
          </p:nvSpPr>
          <p:spPr>
            <a:xfrm>
              <a:off x="2277994" y="6452528"/>
              <a:ext cx="3578709" cy="261610"/>
            </a:xfrm>
            <a:prstGeom prst="rect">
              <a:avLst/>
            </a:prstGeom>
            <a:noFill/>
          </p:spPr>
          <p:txBody>
            <a:bodyPr wrap="square" rtlCol="0">
              <a:spAutoFit/>
            </a:bodyPr>
            <a:lstStyle/>
            <a:p>
              <a:r>
                <a:rPr kumimoji="1" lang="ja-JP" altLang="en-US" sz="1100" dirty="0"/>
                <a:t>各大豆原料中のアレルゲン値（単位：ユニット）</a:t>
              </a:r>
            </a:p>
          </p:txBody>
        </p:sp>
      </p:grpSp>
      <p:sp>
        <p:nvSpPr>
          <p:cNvPr id="14" name="テキスト ボックス 13">
            <a:extLst>
              <a:ext uri="{FF2B5EF4-FFF2-40B4-BE49-F238E27FC236}">
                <a16:creationId xmlns:a16="http://schemas.microsoft.com/office/drawing/2014/main" id="{A5B75B50-229B-B73F-6D41-B817AC4036EB}"/>
              </a:ext>
            </a:extLst>
          </p:cNvPr>
          <p:cNvSpPr txBox="1"/>
          <p:nvPr/>
        </p:nvSpPr>
        <p:spPr>
          <a:xfrm>
            <a:off x="186525" y="877868"/>
            <a:ext cx="2888290" cy="307777"/>
          </a:xfrm>
          <a:prstGeom prst="rect">
            <a:avLst/>
          </a:prstGeom>
          <a:noFill/>
        </p:spPr>
        <p:txBody>
          <a:bodyPr wrap="square" rtlCol="0">
            <a:spAutoFit/>
          </a:bodyPr>
          <a:lstStyle/>
          <a:p>
            <a:r>
              <a:rPr lang="ja-JP" altLang="en-US" sz="1400" b="1" dirty="0"/>
              <a:t>１．バイパス率と有効たん白質</a:t>
            </a:r>
            <a:endParaRPr lang="en-US" altLang="ja-JP" sz="1400" b="1" dirty="0"/>
          </a:p>
        </p:txBody>
      </p:sp>
      <p:sp>
        <p:nvSpPr>
          <p:cNvPr id="15" name="テキスト ボックス 14">
            <a:extLst>
              <a:ext uri="{FF2B5EF4-FFF2-40B4-BE49-F238E27FC236}">
                <a16:creationId xmlns:a16="http://schemas.microsoft.com/office/drawing/2014/main" id="{1C2F9598-EEFC-48D4-88D0-61788271AE71}"/>
              </a:ext>
            </a:extLst>
          </p:cNvPr>
          <p:cNvSpPr txBox="1"/>
          <p:nvPr/>
        </p:nvSpPr>
        <p:spPr>
          <a:xfrm>
            <a:off x="6267878" y="713776"/>
            <a:ext cx="2638737" cy="1754326"/>
          </a:xfrm>
          <a:prstGeom prst="rect">
            <a:avLst/>
          </a:prstGeom>
          <a:noFill/>
        </p:spPr>
        <p:txBody>
          <a:bodyPr wrap="square" rtlCol="0">
            <a:spAutoFit/>
          </a:bodyPr>
          <a:lstStyle/>
          <a:p>
            <a:r>
              <a:rPr lang="ja-JP" altLang="en-US" sz="1200" dirty="0"/>
              <a:t>大豆にはアレルゲン（＝成長阻害因子）が含まれています。適切な摂取量を守らないと下痢を引き起こします。</a:t>
            </a:r>
            <a:endParaRPr lang="en-US" altLang="ja-JP" sz="1200" dirty="0"/>
          </a:p>
          <a:p>
            <a:r>
              <a:rPr lang="ja-JP" altLang="en-US" sz="1200" dirty="0"/>
              <a:t>アレルゲンは加熱によって低減できます。ソイパスは優れた加工技術により、圧ペン大豆、きな粉などの加熱大豆よりもさらに低いアレルゲン値となっています。</a:t>
            </a:r>
            <a:endParaRPr lang="en-US" altLang="ja-JP" sz="1200" dirty="0"/>
          </a:p>
        </p:txBody>
      </p:sp>
      <p:graphicFrame>
        <p:nvGraphicFramePr>
          <p:cNvPr id="16" name="表 16">
            <a:extLst>
              <a:ext uri="{FF2B5EF4-FFF2-40B4-BE49-F238E27FC236}">
                <a16:creationId xmlns:a16="http://schemas.microsoft.com/office/drawing/2014/main" id="{9F8DD3DC-9CE7-5D69-E2D7-C18C154B05F3}"/>
              </a:ext>
            </a:extLst>
          </p:cNvPr>
          <p:cNvGraphicFramePr>
            <a:graphicFrameLocks noGrp="1"/>
          </p:cNvGraphicFramePr>
          <p:nvPr>
            <p:extLst>
              <p:ext uri="{D42A27DB-BD31-4B8C-83A1-F6EECF244321}">
                <p14:modId xmlns:p14="http://schemas.microsoft.com/office/powerpoint/2010/main" val="4160952735"/>
              </p:ext>
            </p:extLst>
          </p:nvPr>
        </p:nvGraphicFramePr>
        <p:xfrm>
          <a:off x="437922" y="1692051"/>
          <a:ext cx="4924598" cy="1844232"/>
        </p:xfrm>
        <a:graphic>
          <a:graphicData uri="http://schemas.openxmlformats.org/drawingml/2006/table">
            <a:tbl>
              <a:tblPr firstRow="1" bandRow="1">
                <a:tableStyleId>{5C22544A-7EE6-4342-B048-85BDC9FD1C3A}</a:tableStyleId>
              </a:tblPr>
              <a:tblGrid>
                <a:gridCol w="755397">
                  <a:extLst>
                    <a:ext uri="{9D8B030D-6E8A-4147-A177-3AD203B41FA5}">
                      <a16:colId xmlns:a16="http://schemas.microsoft.com/office/drawing/2014/main" val="3132476938"/>
                    </a:ext>
                  </a:extLst>
                </a:gridCol>
                <a:gridCol w="975323">
                  <a:extLst>
                    <a:ext uri="{9D8B030D-6E8A-4147-A177-3AD203B41FA5}">
                      <a16:colId xmlns:a16="http://schemas.microsoft.com/office/drawing/2014/main" val="4181049932"/>
                    </a:ext>
                  </a:extLst>
                </a:gridCol>
                <a:gridCol w="994446">
                  <a:extLst>
                    <a:ext uri="{9D8B030D-6E8A-4147-A177-3AD203B41FA5}">
                      <a16:colId xmlns:a16="http://schemas.microsoft.com/office/drawing/2014/main" val="3065441770"/>
                    </a:ext>
                  </a:extLst>
                </a:gridCol>
                <a:gridCol w="1051818">
                  <a:extLst>
                    <a:ext uri="{9D8B030D-6E8A-4147-A177-3AD203B41FA5}">
                      <a16:colId xmlns:a16="http://schemas.microsoft.com/office/drawing/2014/main" val="1852870156"/>
                    </a:ext>
                  </a:extLst>
                </a:gridCol>
                <a:gridCol w="1147614">
                  <a:extLst>
                    <a:ext uri="{9D8B030D-6E8A-4147-A177-3AD203B41FA5}">
                      <a16:colId xmlns:a16="http://schemas.microsoft.com/office/drawing/2014/main" val="1013675543"/>
                    </a:ext>
                  </a:extLst>
                </a:gridCol>
              </a:tblGrid>
              <a:tr h="423727">
                <a:tc>
                  <a:txBody>
                    <a:bodyPr/>
                    <a:lstStyle/>
                    <a:p>
                      <a:pPr algn="ctr"/>
                      <a:endParaRPr kumimoji="1" lang="ja-JP" altLang="en-US" sz="700" dirty="0"/>
                    </a:p>
                  </a:txBody>
                  <a:tcPr/>
                </a:tc>
                <a:tc>
                  <a:txBody>
                    <a:bodyPr/>
                    <a:lstStyle/>
                    <a:p>
                      <a:pPr algn="ctr"/>
                      <a:r>
                        <a:rPr kumimoji="1" lang="ja-JP" altLang="en-US" sz="1000" dirty="0"/>
                        <a:t>粗たん白質</a:t>
                      </a:r>
                      <a:br>
                        <a:rPr kumimoji="1" lang="en-US" altLang="ja-JP" sz="1000" dirty="0"/>
                      </a:br>
                      <a:r>
                        <a:rPr kumimoji="1" lang="en-US" altLang="ja-JP" sz="1000" dirty="0"/>
                        <a:t>(%)</a:t>
                      </a:r>
                      <a:endParaRPr kumimoji="1" lang="ja-JP" altLang="en-US" sz="1000" dirty="0"/>
                    </a:p>
                  </a:txBody>
                  <a:tcPr/>
                </a:tc>
                <a:tc>
                  <a:txBody>
                    <a:bodyPr/>
                    <a:lstStyle/>
                    <a:p>
                      <a:pPr algn="ctr"/>
                      <a:r>
                        <a:rPr kumimoji="1" lang="ja-JP" altLang="en-US" sz="1000" dirty="0"/>
                        <a:t>バイパス率</a:t>
                      </a:r>
                      <a:r>
                        <a:rPr kumimoji="1" lang="en-US" altLang="ja-JP" sz="1000" dirty="0"/>
                        <a:t>(%)</a:t>
                      </a:r>
                      <a:endParaRPr kumimoji="1" lang="ja-JP" altLang="en-US" sz="1000" dirty="0"/>
                    </a:p>
                  </a:txBody>
                  <a:tcPr/>
                </a:tc>
                <a:tc>
                  <a:txBody>
                    <a:bodyPr/>
                    <a:lstStyle/>
                    <a:p>
                      <a:pPr algn="ctr"/>
                      <a:r>
                        <a:rPr kumimoji="1" lang="ja-JP" altLang="en-US" sz="1000" dirty="0"/>
                        <a:t>下部消化管</a:t>
                      </a:r>
                      <a:br>
                        <a:rPr kumimoji="1" lang="en-US" altLang="ja-JP" sz="1000" dirty="0"/>
                      </a:br>
                      <a:r>
                        <a:rPr kumimoji="1" lang="ja-JP" altLang="en-US" sz="1000" dirty="0"/>
                        <a:t>吸収率</a:t>
                      </a:r>
                      <a:r>
                        <a:rPr kumimoji="1" lang="en-US" altLang="ja-JP" sz="1000" dirty="0"/>
                        <a:t>(%)</a:t>
                      </a:r>
                      <a:endParaRPr kumimoji="1" lang="ja-JP" altLang="en-US" sz="1000" dirty="0"/>
                    </a:p>
                  </a:txBody>
                  <a:tcPr/>
                </a:tc>
                <a:tc>
                  <a:txBody>
                    <a:bodyPr/>
                    <a:lstStyle/>
                    <a:p>
                      <a:pPr algn="ctr"/>
                      <a:r>
                        <a:rPr kumimoji="1" lang="ja-JP" altLang="en-US" sz="1000" dirty="0"/>
                        <a:t>有効たん白質</a:t>
                      </a:r>
                      <a:r>
                        <a:rPr kumimoji="1" lang="en-US" altLang="ja-JP" sz="1000" dirty="0"/>
                        <a:t>(%)</a:t>
                      </a:r>
                      <a:endParaRPr kumimoji="1" lang="ja-JP" altLang="en-US" sz="1000" dirty="0"/>
                    </a:p>
                  </a:txBody>
                  <a:tcPr/>
                </a:tc>
                <a:extLst>
                  <a:ext uri="{0D108BD9-81ED-4DB2-BD59-A6C34878D82A}">
                    <a16:rowId xmlns:a16="http://schemas.microsoft.com/office/drawing/2014/main" val="3952145488"/>
                  </a:ext>
                </a:extLst>
              </a:tr>
              <a:tr h="284101">
                <a:tc>
                  <a:txBody>
                    <a:bodyPr/>
                    <a:lstStyle/>
                    <a:p>
                      <a:pPr algn="ctr"/>
                      <a:r>
                        <a:rPr kumimoji="1" lang="ja-JP" altLang="en-US" sz="1000" b="1" dirty="0"/>
                        <a:t>ソイパス</a:t>
                      </a:r>
                    </a:p>
                  </a:txBody>
                  <a:tcPr/>
                </a:tc>
                <a:tc>
                  <a:txBody>
                    <a:bodyPr/>
                    <a:lstStyle/>
                    <a:p>
                      <a:pPr algn="ctr"/>
                      <a:r>
                        <a:rPr kumimoji="1" lang="en-US" altLang="ja-JP" sz="1100" b="1" dirty="0"/>
                        <a:t>51.10</a:t>
                      </a:r>
                      <a:endParaRPr kumimoji="1" lang="ja-JP" altLang="en-US" sz="1100" b="1" dirty="0"/>
                    </a:p>
                  </a:txBody>
                  <a:tcPr/>
                </a:tc>
                <a:tc>
                  <a:txBody>
                    <a:bodyPr/>
                    <a:lstStyle/>
                    <a:p>
                      <a:pPr algn="ctr"/>
                      <a:r>
                        <a:rPr kumimoji="1" lang="en-US" altLang="ja-JP" sz="1100" b="1" dirty="0"/>
                        <a:t>77.20</a:t>
                      </a:r>
                      <a:endParaRPr kumimoji="1" lang="ja-JP" altLang="en-US" sz="1100" b="1" dirty="0"/>
                    </a:p>
                  </a:txBody>
                  <a:tcPr/>
                </a:tc>
                <a:tc>
                  <a:txBody>
                    <a:bodyPr/>
                    <a:lstStyle/>
                    <a:p>
                      <a:pPr algn="ctr"/>
                      <a:r>
                        <a:rPr kumimoji="1" lang="en-US" altLang="ja-JP" sz="1100" b="1" dirty="0"/>
                        <a:t>90.56</a:t>
                      </a:r>
                      <a:endParaRPr kumimoji="1" lang="ja-JP" altLang="en-US" sz="1100" b="1" dirty="0"/>
                    </a:p>
                  </a:txBody>
                  <a:tcPr/>
                </a:tc>
                <a:tc>
                  <a:txBody>
                    <a:bodyPr/>
                    <a:lstStyle/>
                    <a:p>
                      <a:pPr algn="ctr"/>
                      <a:r>
                        <a:rPr kumimoji="1" lang="en-US" altLang="ja-JP" sz="1100" b="1" dirty="0"/>
                        <a:t>35.73</a:t>
                      </a:r>
                      <a:endParaRPr kumimoji="1" lang="ja-JP" altLang="en-US" sz="1100" b="1" dirty="0"/>
                    </a:p>
                  </a:txBody>
                  <a:tcPr/>
                </a:tc>
                <a:extLst>
                  <a:ext uri="{0D108BD9-81ED-4DB2-BD59-A6C34878D82A}">
                    <a16:rowId xmlns:a16="http://schemas.microsoft.com/office/drawing/2014/main" val="1068997908"/>
                  </a:ext>
                </a:extLst>
              </a:tr>
              <a:tr h="284101">
                <a:tc>
                  <a:txBody>
                    <a:bodyPr/>
                    <a:lstStyle/>
                    <a:p>
                      <a:pPr algn="ctr"/>
                      <a:r>
                        <a:rPr kumimoji="1" lang="ja-JP" altLang="en-US" sz="1000" b="1" dirty="0"/>
                        <a:t>大豆粕</a:t>
                      </a:r>
                    </a:p>
                  </a:txBody>
                  <a:tcPr/>
                </a:tc>
                <a:tc>
                  <a:txBody>
                    <a:bodyPr/>
                    <a:lstStyle/>
                    <a:p>
                      <a:pPr algn="ctr"/>
                      <a:r>
                        <a:rPr kumimoji="1" lang="en-US" altLang="ja-JP" sz="1100" b="1" dirty="0"/>
                        <a:t>51.00</a:t>
                      </a:r>
                      <a:endParaRPr kumimoji="1" lang="ja-JP" altLang="en-US" sz="1100" b="1" dirty="0"/>
                    </a:p>
                  </a:txBody>
                  <a:tcPr/>
                </a:tc>
                <a:tc>
                  <a:txBody>
                    <a:bodyPr/>
                    <a:lstStyle/>
                    <a:p>
                      <a:pPr algn="ctr"/>
                      <a:r>
                        <a:rPr kumimoji="1" lang="en-US" altLang="ja-JP" sz="1100" b="1" dirty="0"/>
                        <a:t>30.00</a:t>
                      </a:r>
                      <a:endParaRPr kumimoji="1" lang="ja-JP" altLang="en-US" sz="1100" b="1" dirty="0"/>
                    </a:p>
                  </a:txBody>
                  <a:tcPr/>
                </a:tc>
                <a:tc>
                  <a:txBody>
                    <a:bodyPr/>
                    <a:lstStyle/>
                    <a:p>
                      <a:pPr algn="ctr"/>
                      <a:r>
                        <a:rPr kumimoji="1" lang="en-US" altLang="ja-JP" sz="1100" b="1" dirty="0"/>
                        <a:t>91.40</a:t>
                      </a:r>
                      <a:endParaRPr kumimoji="1" lang="ja-JP" altLang="en-US" sz="1100" b="1" dirty="0"/>
                    </a:p>
                  </a:txBody>
                  <a:tcPr/>
                </a:tc>
                <a:tc>
                  <a:txBody>
                    <a:bodyPr/>
                    <a:lstStyle/>
                    <a:p>
                      <a:pPr algn="ctr"/>
                      <a:r>
                        <a:rPr kumimoji="1" lang="en-US" altLang="ja-JP" sz="1100" b="1" dirty="0"/>
                        <a:t>13.98</a:t>
                      </a:r>
                      <a:endParaRPr kumimoji="1" lang="ja-JP" altLang="en-US" sz="1100" b="1" dirty="0"/>
                    </a:p>
                  </a:txBody>
                  <a:tcPr/>
                </a:tc>
                <a:extLst>
                  <a:ext uri="{0D108BD9-81ED-4DB2-BD59-A6C34878D82A}">
                    <a16:rowId xmlns:a16="http://schemas.microsoft.com/office/drawing/2014/main" val="2581977964"/>
                  </a:ext>
                </a:extLst>
              </a:tr>
              <a:tr h="284101">
                <a:tc>
                  <a:txBody>
                    <a:bodyPr/>
                    <a:lstStyle/>
                    <a:p>
                      <a:pPr algn="ctr"/>
                      <a:r>
                        <a:rPr kumimoji="1" lang="en-US" altLang="ja-JP" sz="1000" b="1" dirty="0"/>
                        <a:t>A</a:t>
                      </a:r>
                      <a:r>
                        <a:rPr kumimoji="1" lang="ja-JP" altLang="en-US" sz="1000" b="1" dirty="0"/>
                        <a:t>社</a:t>
                      </a:r>
                    </a:p>
                  </a:txBody>
                  <a:tcPr/>
                </a:tc>
                <a:tc>
                  <a:txBody>
                    <a:bodyPr/>
                    <a:lstStyle/>
                    <a:p>
                      <a:pPr algn="ctr"/>
                      <a:r>
                        <a:rPr kumimoji="1" lang="en-US" altLang="ja-JP" sz="1100" b="1" dirty="0"/>
                        <a:t>51.70</a:t>
                      </a:r>
                      <a:endParaRPr kumimoji="1" lang="ja-JP" altLang="en-US" sz="1100" b="1" dirty="0"/>
                    </a:p>
                  </a:txBody>
                  <a:tcPr/>
                </a:tc>
                <a:tc>
                  <a:txBody>
                    <a:bodyPr/>
                    <a:lstStyle/>
                    <a:p>
                      <a:pPr algn="ctr"/>
                      <a:r>
                        <a:rPr kumimoji="1" lang="en-US" altLang="ja-JP" sz="1100" b="1" dirty="0"/>
                        <a:t>66.60</a:t>
                      </a:r>
                      <a:endParaRPr kumimoji="1" lang="ja-JP" altLang="en-US" sz="1100" b="1" dirty="0"/>
                    </a:p>
                  </a:txBody>
                  <a:tcPr/>
                </a:tc>
                <a:tc>
                  <a:txBody>
                    <a:bodyPr/>
                    <a:lstStyle/>
                    <a:p>
                      <a:pPr algn="ctr"/>
                      <a:r>
                        <a:rPr kumimoji="1" lang="en-US" altLang="ja-JP" sz="1100" b="1" dirty="0"/>
                        <a:t>89.93</a:t>
                      </a:r>
                      <a:endParaRPr kumimoji="1" lang="ja-JP" altLang="en-US" sz="1100" b="1" dirty="0"/>
                    </a:p>
                  </a:txBody>
                  <a:tcPr/>
                </a:tc>
                <a:tc>
                  <a:txBody>
                    <a:bodyPr/>
                    <a:lstStyle/>
                    <a:p>
                      <a:pPr algn="ctr"/>
                      <a:r>
                        <a:rPr kumimoji="1" lang="en-US" altLang="ja-JP" sz="1100" b="1" dirty="0"/>
                        <a:t>30.96</a:t>
                      </a:r>
                      <a:endParaRPr kumimoji="1" lang="ja-JP" altLang="en-US" sz="1100" b="1" dirty="0"/>
                    </a:p>
                  </a:txBody>
                  <a:tcPr/>
                </a:tc>
                <a:extLst>
                  <a:ext uri="{0D108BD9-81ED-4DB2-BD59-A6C34878D82A}">
                    <a16:rowId xmlns:a16="http://schemas.microsoft.com/office/drawing/2014/main" val="2961695423"/>
                  </a:ext>
                </a:extLst>
              </a:tr>
              <a:tr h="284101">
                <a:tc>
                  <a:txBody>
                    <a:bodyPr/>
                    <a:lstStyle/>
                    <a:p>
                      <a:pPr algn="ctr"/>
                      <a:r>
                        <a:rPr kumimoji="1" lang="en-US" altLang="ja-JP" sz="1000" b="1" dirty="0"/>
                        <a:t>B</a:t>
                      </a:r>
                      <a:r>
                        <a:rPr kumimoji="1" lang="ja-JP" altLang="en-US" sz="1000" b="1" dirty="0"/>
                        <a:t>社</a:t>
                      </a:r>
                    </a:p>
                  </a:txBody>
                  <a:tcPr/>
                </a:tc>
                <a:tc>
                  <a:txBody>
                    <a:bodyPr/>
                    <a:lstStyle/>
                    <a:p>
                      <a:pPr algn="ctr"/>
                      <a:r>
                        <a:rPr kumimoji="1" lang="en-US" altLang="ja-JP" sz="1100" b="1" dirty="0"/>
                        <a:t>47.70</a:t>
                      </a:r>
                      <a:endParaRPr kumimoji="1" lang="ja-JP" altLang="en-US" sz="1100" b="1" dirty="0"/>
                    </a:p>
                  </a:txBody>
                  <a:tcPr/>
                </a:tc>
                <a:tc>
                  <a:txBody>
                    <a:bodyPr/>
                    <a:lstStyle/>
                    <a:p>
                      <a:pPr algn="ctr"/>
                      <a:r>
                        <a:rPr kumimoji="1" lang="en-US" altLang="ja-JP" sz="1100" b="1" dirty="0"/>
                        <a:t>63.10</a:t>
                      </a:r>
                      <a:endParaRPr kumimoji="1" lang="ja-JP" altLang="en-US" sz="1100" b="1" dirty="0"/>
                    </a:p>
                  </a:txBody>
                  <a:tcPr/>
                </a:tc>
                <a:tc>
                  <a:txBody>
                    <a:bodyPr/>
                    <a:lstStyle/>
                    <a:p>
                      <a:pPr algn="ctr"/>
                      <a:r>
                        <a:rPr kumimoji="1" lang="en-US" altLang="ja-JP" sz="1100" b="1" dirty="0"/>
                        <a:t>88.76</a:t>
                      </a:r>
                      <a:endParaRPr kumimoji="1" lang="ja-JP" altLang="en-US" sz="1100" b="1" dirty="0"/>
                    </a:p>
                  </a:txBody>
                  <a:tcPr/>
                </a:tc>
                <a:tc>
                  <a:txBody>
                    <a:bodyPr/>
                    <a:lstStyle/>
                    <a:p>
                      <a:pPr algn="ctr"/>
                      <a:r>
                        <a:rPr kumimoji="1" lang="en-US" altLang="ja-JP" sz="1100" b="1" dirty="0"/>
                        <a:t>26.72</a:t>
                      </a:r>
                      <a:endParaRPr kumimoji="1" lang="ja-JP" altLang="en-US" sz="1100" b="1" dirty="0"/>
                    </a:p>
                  </a:txBody>
                  <a:tcPr/>
                </a:tc>
                <a:extLst>
                  <a:ext uri="{0D108BD9-81ED-4DB2-BD59-A6C34878D82A}">
                    <a16:rowId xmlns:a16="http://schemas.microsoft.com/office/drawing/2014/main" val="2909138883"/>
                  </a:ext>
                </a:extLst>
              </a:tr>
              <a:tr h="284101">
                <a:tc>
                  <a:txBody>
                    <a:bodyPr/>
                    <a:lstStyle/>
                    <a:p>
                      <a:pPr algn="ctr"/>
                      <a:r>
                        <a:rPr kumimoji="1" lang="en-US" altLang="ja-JP" sz="1000" b="1" dirty="0"/>
                        <a:t>C</a:t>
                      </a:r>
                      <a:r>
                        <a:rPr kumimoji="1" lang="ja-JP" altLang="en-US" sz="1000" b="1" dirty="0"/>
                        <a:t>社</a:t>
                      </a:r>
                    </a:p>
                  </a:txBody>
                  <a:tcPr/>
                </a:tc>
                <a:tc>
                  <a:txBody>
                    <a:bodyPr/>
                    <a:lstStyle/>
                    <a:p>
                      <a:pPr algn="ctr"/>
                      <a:r>
                        <a:rPr kumimoji="1" lang="en-US" altLang="ja-JP" sz="1100" b="1" dirty="0"/>
                        <a:t>47.30</a:t>
                      </a:r>
                      <a:endParaRPr kumimoji="1" lang="ja-JP" altLang="en-US" sz="1100" b="1" dirty="0"/>
                    </a:p>
                  </a:txBody>
                  <a:tcPr/>
                </a:tc>
                <a:tc>
                  <a:txBody>
                    <a:bodyPr/>
                    <a:lstStyle/>
                    <a:p>
                      <a:pPr algn="ctr"/>
                      <a:r>
                        <a:rPr kumimoji="1" lang="en-US" altLang="ja-JP" sz="1100" b="1" dirty="0"/>
                        <a:t>52.90</a:t>
                      </a:r>
                      <a:endParaRPr kumimoji="1" lang="ja-JP" altLang="en-US" sz="1100" b="1" dirty="0"/>
                    </a:p>
                  </a:txBody>
                  <a:tcPr/>
                </a:tc>
                <a:tc>
                  <a:txBody>
                    <a:bodyPr/>
                    <a:lstStyle/>
                    <a:p>
                      <a:pPr algn="ctr"/>
                      <a:r>
                        <a:rPr kumimoji="1" lang="en-US" altLang="ja-JP" sz="1100" b="1" dirty="0"/>
                        <a:t>89.46</a:t>
                      </a:r>
                      <a:endParaRPr kumimoji="1" lang="ja-JP" altLang="en-US" sz="1100" b="1" dirty="0"/>
                    </a:p>
                  </a:txBody>
                  <a:tcPr/>
                </a:tc>
                <a:tc>
                  <a:txBody>
                    <a:bodyPr/>
                    <a:lstStyle/>
                    <a:p>
                      <a:pPr algn="ctr"/>
                      <a:r>
                        <a:rPr kumimoji="1" lang="en-US" altLang="ja-JP" sz="1100" b="1" dirty="0"/>
                        <a:t>22.38</a:t>
                      </a:r>
                      <a:endParaRPr kumimoji="1" lang="ja-JP" altLang="en-US" sz="1100" b="1" dirty="0"/>
                    </a:p>
                  </a:txBody>
                  <a:tcPr/>
                </a:tc>
                <a:extLst>
                  <a:ext uri="{0D108BD9-81ED-4DB2-BD59-A6C34878D82A}">
                    <a16:rowId xmlns:a16="http://schemas.microsoft.com/office/drawing/2014/main" val="3408628555"/>
                  </a:ext>
                </a:extLst>
              </a:tr>
            </a:tbl>
          </a:graphicData>
        </a:graphic>
      </p:graphicFrame>
      <p:sp>
        <p:nvSpPr>
          <p:cNvPr id="17" name="テキスト ボックス 16">
            <a:extLst>
              <a:ext uri="{FF2B5EF4-FFF2-40B4-BE49-F238E27FC236}">
                <a16:creationId xmlns:a16="http://schemas.microsoft.com/office/drawing/2014/main" id="{08971873-66BB-1320-133D-999E2A2D4627}"/>
              </a:ext>
            </a:extLst>
          </p:cNvPr>
          <p:cNvSpPr txBox="1"/>
          <p:nvPr/>
        </p:nvSpPr>
        <p:spPr>
          <a:xfrm>
            <a:off x="400622" y="1134170"/>
            <a:ext cx="4886326" cy="523220"/>
          </a:xfrm>
          <a:prstGeom prst="rect">
            <a:avLst/>
          </a:prstGeom>
          <a:noFill/>
        </p:spPr>
        <p:txBody>
          <a:bodyPr wrap="square" rtlCol="0">
            <a:spAutoFit/>
          </a:bodyPr>
          <a:lstStyle/>
          <a:p>
            <a:r>
              <a:rPr kumimoji="1" lang="ja-JP" altLang="en-US" sz="1400" b="1" dirty="0"/>
              <a:t>ソイパスは糖を加えて低温・短時間で加熱することで消化率を保ちつつバイパス率を引き上げることを実現しました。</a:t>
            </a:r>
            <a:endParaRPr kumimoji="1" lang="en-US" altLang="ja-JP" sz="1400" b="1" dirty="0"/>
          </a:p>
        </p:txBody>
      </p:sp>
      <p:sp>
        <p:nvSpPr>
          <p:cNvPr id="18" name="テキスト ボックス 17">
            <a:extLst>
              <a:ext uri="{FF2B5EF4-FFF2-40B4-BE49-F238E27FC236}">
                <a16:creationId xmlns:a16="http://schemas.microsoft.com/office/drawing/2014/main" id="{149ABEF4-F738-A19A-155F-DB4FE2CD9F1E}"/>
              </a:ext>
            </a:extLst>
          </p:cNvPr>
          <p:cNvSpPr txBox="1"/>
          <p:nvPr/>
        </p:nvSpPr>
        <p:spPr>
          <a:xfrm>
            <a:off x="263023" y="3869193"/>
            <a:ext cx="4514850" cy="307777"/>
          </a:xfrm>
          <a:prstGeom prst="rect">
            <a:avLst/>
          </a:prstGeom>
          <a:noFill/>
        </p:spPr>
        <p:txBody>
          <a:bodyPr wrap="square" rtlCol="0">
            <a:spAutoFit/>
          </a:bodyPr>
          <a:lstStyle/>
          <a:p>
            <a:r>
              <a:rPr kumimoji="1" lang="ja-JP" altLang="en-US" sz="1400" b="1" dirty="0"/>
              <a:t>２．粗脂肪が低い</a:t>
            </a:r>
            <a:endParaRPr kumimoji="1" lang="en-US" altLang="ja-JP" sz="1400" b="1" dirty="0"/>
          </a:p>
        </p:txBody>
      </p:sp>
      <p:pic>
        <p:nvPicPr>
          <p:cNvPr id="19" name="図 18">
            <a:extLst>
              <a:ext uri="{FF2B5EF4-FFF2-40B4-BE49-F238E27FC236}">
                <a16:creationId xmlns:a16="http://schemas.microsoft.com/office/drawing/2014/main" id="{D6D80415-5093-C91C-4D19-FF51ED29DC91}"/>
              </a:ext>
            </a:extLst>
          </p:cNvPr>
          <p:cNvPicPr>
            <a:picLocks noChangeAspect="1"/>
          </p:cNvPicPr>
          <p:nvPr/>
        </p:nvPicPr>
        <p:blipFill>
          <a:blip r:embed="rId3"/>
          <a:stretch>
            <a:fillRect/>
          </a:stretch>
        </p:blipFill>
        <p:spPr>
          <a:xfrm>
            <a:off x="2580682" y="4739828"/>
            <a:ext cx="2560281" cy="1965054"/>
          </a:xfrm>
          <a:prstGeom prst="rect">
            <a:avLst/>
          </a:prstGeom>
        </p:spPr>
      </p:pic>
      <p:sp>
        <p:nvSpPr>
          <p:cNvPr id="20" name="テキスト ボックス 19">
            <a:extLst>
              <a:ext uri="{FF2B5EF4-FFF2-40B4-BE49-F238E27FC236}">
                <a16:creationId xmlns:a16="http://schemas.microsoft.com/office/drawing/2014/main" id="{2E34E041-32A0-6476-08ED-915A4650F6B1}"/>
              </a:ext>
            </a:extLst>
          </p:cNvPr>
          <p:cNvSpPr txBox="1"/>
          <p:nvPr/>
        </p:nvSpPr>
        <p:spPr>
          <a:xfrm>
            <a:off x="295137" y="4108358"/>
            <a:ext cx="5559356" cy="646331"/>
          </a:xfrm>
          <a:prstGeom prst="rect">
            <a:avLst/>
          </a:prstGeom>
          <a:noFill/>
        </p:spPr>
        <p:txBody>
          <a:bodyPr wrap="square" rtlCol="0">
            <a:spAutoFit/>
          </a:bodyPr>
          <a:lstStyle/>
          <a:p>
            <a:r>
              <a:rPr lang="ja-JP" altLang="en-US" sz="1200" dirty="0"/>
              <a:t>飼料中の過剰な脂肪は尾枕（おまくら）の原因になると言われています。</a:t>
            </a:r>
            <a:endParaRPr lang="en-US" altLang="ja-JP" sz="1200" dirty="0"/>
          </a:p>
          <a:p>
            <a:r>
              <a:rPr lang="ja-JP" altLang="en-US" sz="1200" dirty="0"/>
              <a:t>若齢時からの過肥（太りすぎ）は、どっしりとした外観の半面、肥育期に</a:t>
            </a:r>
            <a:endParaRPr lang="en-US" altLang="ja-JP" sz="1200" dirty="0"/>
          </a:p>
          <a:p>
            <a:r>
              <a:rPr lang="ja-JP" altLang="en-US" sz="1200" dirty="0"/>
              <a:t>食い込めないなどの理由から、肥育生産者から敬遠される素牛になります。</a:t>
            </a:r>
            <a:endParaRPr lang="en-US" altLang="ja-JP" sz="1200" dirty="0"/>
          </a:p>
        </p:txBody>
      </p:sp>
      <p:sp>
        <p:nvSpPr>
          <p:cNvPr id="21" name="テキスト ボックス 20">
            <a:extLst>
              <a:ext uri="{FF2B5EF4-FFF2-40B4-BE49-F238E27FC236}">
                <a16:creationId xmlns:a16="http://schemas.microsoft.com/office/drawing/2014/main" id="{5DF5011A-74BC-13E1-7944-71221AE53D99}"/>
              </a:ext>
            </a:extLst>
          </p:cNvPr>
          <p:cNvSpPr txBox="1"/>
          <p:nvPr/>
        </p:nvSpPr>
        <p:spPr>
          <a:xfrm>
            <a:off x="263023" y="4667957"/>
            <a:ext cx="2247901" cy="1938992"/>
          </a:xfrm>
          <a:prstGeom prst="rect">
            <a:avLst/>
          </a:prstGeom>
          <a:noFill/>
        </p:spPr>
        <p:txBody>
          <a:bodyPr wrap="square" rtlCol="0">
            <a:spAutoFit/>
          </a:bodyPr>
          <a:lstStyle/>
          <a:p>
            <a:r>
              <a:rPr lang="ja-JP" altLang="en-US" sz="1200" dirty="0"/>
              <a:t>圧ペン大豆は加熱されていることから大豆粕よりもバイパス率が高く有用と考えられていますが、搾油処理された原料でないため高油分です。</a:t>
            </a:r>
            <a:endParaRPr lang="en-US" altLang="ja-JP" sz="1200" dirty="0"/>
          </a:p>
          <a:p>
            <a:r>
              <a:rPr lang="ja-JP" altLang="en-US" sz="1200" dirty="0"/>
              <a:t>ソイパスは大豆粕を原料としていることから粗脂肪含量が低く、過肥を心配することなく、目的のたん白質を牛が利用できます。</a:t>
            </a:r>
            <a:endParaRPr lang="en-US" altLang="ja-JP" sz="1200" dirty="0"/>
          </a:p>
        </p:txBody>
      </p:sp>
      <p:sp>
        <p:nvSpPr>
          <p:cNvPr id="22" name="テキスト ボックス 21">
            <a:extLst>
              <a:ext uri="{FF2B5EF4-FFF2-40B4-BE49-F238E27FC236}">
                <a16:creationId xmlns:a16="http://schemas.microsoft.com/office/drawing/2014/main" id="{E404558A-5B3F-FDF7-0630-0D8CD69AC40C}"/>
              </a:ext>
            </a:extLst>
          </p:cNvPr>
          <p:cNvSpPr txBox="1"/>
          <p:nvPr/>
        </p:nvSpPr>
        <p:spPr>
          <a:xfrm>
            <a:off x="385620" y="3563462"/>
            <a:ext cx="4891233" cy="261610"/>
          </a:xfrm>
          <a:prstGeom prst="rect">
            <a:avLst/>
          </a:prstGeom>
          <a:noFill/>
        </p:spPr>
        <p:txBody>
          <a:bodyPr wrap="square" rtlCol="0">
            <a:spAutoFit/>
          </a:bodyPr>
          <a:lstStyle/>
          <a:p>
            <a:pPr algn="ctr"/>
            <a:r>
              <a:rPr lang="ja-JP" altLang="en-US" sz="1100" dirty="0"/>
              <a:t>出典：リグノテック社提供</a:t>
            </a:r>
            <a:r>
              <a:rPr lang="en-US" altLang="ja-JP" sz="1100" dirty="0"/>
              <a:t>(2013</a:t>
            </a:r>
            <a:r>
              <a:rPr lang="ja-JP" altLang="en-US" sz="1100" dirty="0"/>
              <a:t>年サンプル採取し</a:t>
            </a:r>
            <a:r>
              <a:rPr lang="en-US" altLang="ja-JP" sz="1100" dirty="0"/>
              <a:t>Cumberland</a:t>
            </a:r>
            <a:r>
              <a:rPr lang="ja-JP" altLang="en-US" sz="1100" dirty="0"/>
              <a:t>社で分析</a:t>
            </a:r>
            <a:endParaRPr kumimoji="1" lang="ja-JP" altLang="en-US" sz="1100" dirty="0"/>
          </a:p>
        </p:txBody>
      </p:sp>
      <p:sp>
        <p:nvSpPr>
          <p:cNvPr id="23" name="テキスト ボックス 22">
            <a:extLst>
              <a:ext uri="{FF2B5EF4-FFF2-40B4-BE49-F238E27FC236}">
                <a16:creationId xmlns:a16="http://schemas.microsoft.com/office/drawing/2014/main" id="{81E1E091-1077-9C9F-7C64-FE534883CC20}"/>
              </a:ext>
            </a:extLst>
          </p:cNvPr>
          <p:cNvSpPr txBox="1"/>
          <p:nvPr/>
        </p:nvSpPr>
        <p:spPr>
          <a:xfrm>
            <a:off x="6000368" y="301938"/>
            <a:ext cx="4514850" cy="307777"/>
          </a:xfrm>
          <a:prstGeom prst="rect">
            <a:avLst/>
          </a:prstGeom>
          <a:noFill/>
        </p:spPr>
        <p:txBody>
          <a:bodyPr wrap="square" rtlCol="0">
            <a:spAutoFit/>
          </a:bodyPr>
          <a:lstStyle/>
          <a:p>
            <a:r>
              <a:rPr lang="ja-JP" altLang="en-US" sz="1400" b="1" dirty="0"/>
              <a:t>３</a:t>
            </a:r>
            <a:r>
              <a:rPr kumimoji="1" lang="ja-JP" altLang="en-US" sz="1400" b="1" dirty="0"/>
              <a:t>．ソイパスはアレルゲン値が低い</a:t>
            </a:r>
            <a:endParaRPr kumimoji="1" lang="en-US" altLang="ja-JP" sz="1400" b="1" dirty="0"/>
          </a:p>
        </p:txBody>
      </p:sp>
      <p:sp>
        <p:nvSpPr>
          <p:cNvPr id="2" name="四角形: 角を丸くする 1">
            <a:extLst>
              <a:ext uri="{FF2B5EF4-FFF2-40B4-BE49-F238E27FC236}">
                <a16:creationId xmlns:a16="http://schemas.microsoft.com/office/drawing/2014/main" id="{E562A1A0-8A1D-5480-8E9B-B31AE33F2443}"/>
              </a:ext>
            </a:extLst>
          </p:cNvPr>
          <p:cNvSpPr/>
          <p:nvPr/>
        </p:nvSpPr>
        <p:spPr>
          <a:xfrm>
            <a:off x="440482" y="294810"/>
            <a:ext cx="4836371" cy="477177"/>
          </a:xfrm>
          <a:prstGeom prst="round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000" b="1" dirty="0">
                <a:ln w="0"/>
                <a:solidFill>
                  <a:schemeClr val="tx1"/>
                </a:solidFill>
                <a:effectLst>
                  <a:outerShdw blurRad="38100" dist="19050" dir="2700000" algn="tl" rotWithShape="0">
                    <a:schemeClr val="dk1">
                      <a:alpha val="40000"/>
                    </a:schemeClr>
                  </a:outerShdw>
                </a:effectLst>
              </a:rPr>
              <a:t>ソイパス（</a:t>
            </a:r>
            <a:r>
              <a:rPr lang="en-US" altLang="ja-JP" sz="2000" b="1" dirty="0" err="1">
                <a:ln w="0"/>
                <a:solidFill>
                  <a:schemeClr val="tx1"/>
                </a:solidFill>
                <a:effectLst>
                  <a:outerShdw blurRad="38100" dist="19050" dir="2700000" algn="tl" rotWithShape="0">
                    <a:schemeClr val="dk1">
                      <a:alpha val="40000"/>
                    </a:schemeClr>
                  </a:outerShdw>
                </a:effectLst>
              </a:rPr>
              <a:t>SoyPass</a:t>
            </a:r>
            <a:r>
              <a:rPr lang="ja-JP" altLang="en-US" sz="2000" b="1" dirty="0">
                <a:ln w="0"/>
                <a:solidFill>
                  <a:schemeClr val="tx1"/>
                </a:solidFill>
                <a:effectLst>
                  <a:outerShdw blurRad="38100" dist="19050" dir="2700000" algn="tl" rotWithShape="0">
                    <a:schemeClr val="dk1">
                      <a:alpha val="40000"/>
                    </a:schemeClr>
                  </a:outerShdw>
                </a:effectLst>
              </a:rPr>
              <a:t>）の特徴</a:t>
            </a:r>
            <a:endParaRPr kumimoji="1" lang="ja-JP" altLang="en-US" sz="2000" b="1" dirty="0">
              <a:ln w="0"/>
              <a:solidFill>
                <a:schemeClr val="tx1"/>
              </a:solidFill>
              <a:effectLst>
                <a:outerShdw blurRad="38100" dist="19050" dir="2700000" algn="tl" rotWithShape="0">
                  <a:schemeClr val="dk1">
                    <a:alpha val="40000"/>
                  </a:schemeClr>
                </a:outerShdw>
              </a:effectLst>
            </a:endParaRPr>
          </a:p>
        </p:txBody>
      </p:sp>
      <p:pic>
        <p:nvPicPr>
          <p:cNvPr id="6" name="図 5">
            <a:extLst>
              <a:ext uri="{FF2B5EF4-FFF2-40B4-BE49-F238E27FC236}">
                <a16:creationId xmlns:a16="http://schemas.microsoft.com/office/drawing/2014/main" id="{71A49EC1-C9B8-3C3C-805B-8552745B9847}"/>
              </a:ext>
            </a:extLst>
          </p:cNvPr>
          <p:cNvPicPr>
            <a:picLocks noChangeAspect="1"/>
          </p:cNvPicPr>
          <p:nvPr/>
        </p:nvPicPr>
        <p:blipFill>
          <a:blip r:embed="rId4"/>
          <a:stretch>
            <a:fillRect/>
          </a:stretch>
        </p:blipFill>
        <p:spPr>
          <a:xfrm>
            <a:off x="6220935" y="2972039"/>
            <a:ext cx="5347156" cy="2459936"/>
          </a:xfrm>
          <a:prstGeom prst="rect">
            <a:avLst/>
          </a:prstGeom>
        </p:spPr>
      </p:pic>
      <p:pic>
        <p:nvPicPr>
          <p:cNvPr id="3" name="Picture 2" descr="株式会社カスケディア・トレーディング">
            <a:extLst>
              <a:ext uri="{FF2B5EF4-FFF2-40B4-BE49-F238E27FC236}">
                <a16:creationId xmlns:a16="http://schemas.microsoft.com/office/drawing/2014/main" id="{C584A7F9-7546-2C75-39B8-916D9A72595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28061" y="6429870"/>
            <a:ext cx="3302785" cy="409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018109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442</TotalTime>
  <Words>920</Words>
  <Application>Microsoft Office PowerPoint</Application>
  <PresentationFormat>ワイド画面</PresentationFormat>
  <Paragraphs>89</Paragraphs>
  <Slides>2</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vt:i4>
      </vt:variant>
    </vt:vector>
  </HeadingPairs>
  <TitlesOfParts>
    <vt:vector size="6" baseType="lpstr">
      <vt:lpstr>游ゴシック</vt:lpstr>
      <vt:lpstr>游ゴシック Light</vt:lpstr>
      <vt:lpstr>Arial</vt:lpstr>
      <vt:lpstr>Office テーマ</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user</dc:creator>
  <cp:lastModifiedBy>user</cp:lastModifiedBy>
  <cp:revision>14</cp:revision>
  <dcterms:created xsi:type="dcterms:W3CDTF">2023-02-16T02:23:07Z</dcterms:created>
  <dcterms:modified xsi:type="dcterms:W3CDTF">2023-02-17T05:01:47Z</dcterms:modified>
</cp:coreProperties>
</file>